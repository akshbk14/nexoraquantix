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Arial Bold" charset="1" panose="020B0704020202020204"/>
      <p:regular r:id="rId20"/>
    </p:embeddedFont>
    <p:embeddedFont>
      <p:font typeface="Calibri (MS)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242060"/>
            <a:ext cx="91440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spc="400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PS11  |  DATA SCIENCE &amp; ANALYTICS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872615"/>
            <a:ext cx="914400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StockSense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3912870"/>
            <a:ext cx="8961120" cy="166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The Right Stock. At the Right Time.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5602605"/>
            <a:ext cx="877824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AI-Powered Demand Forecasting &amp; Smart Reordering for Small Retailers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7440930"/>
            <a:ext cx="877824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Statement: PS11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Domain: Data Science &amp; Analytics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Team: Nexora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Abirami T, Banumathi M, Akshaya B, Abishri 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14635" y="1087755"/>
            <a:ext cx="6968490" cy="6877050"/>
            <a:chOff x="0" y="0"/>
            <a:chExt cx="9291320" cy="9169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91320" cy="9169400"/>
            </a:xfrm>
            <a:custGeom>
              <a:avLst/>
              <a:gdLst/>
              <a:ahLst/>
              <a:cxnLst/>
              <a:rect r="r" b="b" t="t" l="l"/>
              <a:pathLst>
                <a:path h="9169400" w="9291320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9095740" y="0"/>
                  </a:lnTo>
                  <a:cubicBezTo>
                    <a:pt x="9203817" y="0"/>
                    <a:pt x="9291320" y="87503"/>
                    <a:pt x="9291320" y="195580"/>
                  </a:cubicBezTo>
                  <a:lnTo>
                    <a:pt x="9291320" y="8973820"/>
                  </a:lnTo>
                  <a:cubicBezTo>
                    <a:pt x="9291320" y="9081897"/>
                    <a:pt x="9203817" y="9169400"/>
                    <a:pt x="9095740" y="9169400"/>
                  </a:cubicBezTo>
                  <a:lnTo>
                    <a:pt x="195580" y="9169400"/>
                  </a:lnTo>
                  <a:cubicBezTo>
                    <a:pt x="87503" y="9169400"/>
                    <a:pt x="0" y="9081897"/>
                    <a:pt x="0" y="8973820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789920" y="1314450"/>
            <a:ext cx="621792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Reorder list  |  illustrative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789920" y="2194560"/>
            <a:ext cx="2194560" cy="548640"/>
            <a:chOff x="0" y="0"/>
            <a:chExt cx="292608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92608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Milk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984480" y="2194560"/>
            <a:ext cx="2194560" cy="548640"/>
            <a:chOff x="0" y="0"/>
            <a:chExt cx="292608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9260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5B4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 38 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904720" y="2212848"/>
            <a:ext cx="2103120" cy="512064"/>
            <a:chOff x="0" y="0"/>
            <a:chExt cx="280416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462784" y="0"/>
                  </a:lnTo>
                  <a:cubicBezTo>
                    <a:pt x="2651379" y="0"/>
                    <a:pt x="2804160" y="152781"/>
                    <a:pt x="2804160" y="341376"/>
                  </a:cubicBezTo>
                  <a:cubicBezTo>
                    <a:pt x="2804160" y="529971"/>
                    <a:pt x="2651379" y="682752"/>
                    <a:pt x="246278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04720" y="2212848"/>
            <a:ext cx="2103120" cy="512064"/>
            <a:chOff x="0" y="0"/>
            <a:chExt cx="2804160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804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CRITICAL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89920" y="3328416"/>
            <a:ext cx="2194560" cy="548640"/>
            <a:chOff x="0" y="0"/>
            <a:chExt cx="292608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292608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Bread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984480" y="3328416"/>
            <a:ext cx="2194560" cy="548640"/>
            <a:chOff x="0" y="0"/>
            <a:chExt cx="292608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9260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5B4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 30 pcs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904720" y="3346704"/>
            <a:ext cx="2103120" cy="512064"/>
            <a:chOff x="0" y="0"/>
            <a:chExt cx="280416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462784" y="0"/>
                  </a:lnTo>
                  <a:cubicBezTo>
                    <a:pt x="2651379" y="0"/>
                    <a:pt x="2804160" y="152781"/>
                    <a:pt x="2804160" y="341376"/>
                  </a:cubicBezTo>
                  <a:cubicBezTo>
                    <a:pt x="2804160" y="529971"/>
                    <a:pt x="2651379" y="682752"/>
                    <a:pt x="246278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904720" y="3346704"/>
            <a:ext cx="2103120" cy="512064"/>
            <a:chOff x="0" y="0"/>
            <a:chExt cx="280416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804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789920" y="4462272"/>
            <a:ext cx="2194560" cy="548640"/>
            <a:chOff x="0" y="0"/>
            <a:chExt cx="292608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292608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Biscuits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984480" y="4462272"/>
            <a:ext cx="2194560" cy="548640"/>
            <a:chOff x="0" y="0"/>
            <a:chExt cx="292608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29260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5B4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 3 packs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904720" y="4480560"/>
            <a:ext cx="2103120" cy="512064"/>
            <a:chOff x="0" y="0"/>
            <a:chExt cx="280416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462784" y="0"/>
                  </a:lnTo>
                  <a:cubicBezTo>
                    <a:pt x="2651379" y="0"/>
                    <a:pt x="2804160" y="152781"/>
                    <a:pt x="2804160" y="341376"/>
                  </a:cubicBezTo>
                  <a:cubicBezTo>
                    <a:pt x="2804160" y="529971"/>
                    <a:pt x="2651379" y="682752"/>
                    <a:pt x="246278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904720" y="4480560"/>
            <a:ext cx="2103120" cy="512064"/>
            <a:chOff x="0" y="0"/>
            <a:chExt cx="280416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804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789920" y="5596128"/>
            <a:ext cx="2194560" cy="548640"/>
            <a:chOff x="0" y="0"/>
            <a:chExt cx="292608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292608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984480" y="5596128"/>
            <a:ext cx="2194560" cy="548640"/>
            <a:chOff x="0" y="0"/>
            <a:chExt cx="292608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29260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5B4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 10 kg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904720" y="5614416"/>
            <a:ext cx="2103120" cy="512064"/>
            <a:chOff x="0" y="0"/>
            <a:chExt cx="280416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462784" y="0"/>
                  </a:lnTo>
                  <a:cubicBezTo>
                    <a:pt x="2651379" y="0"/>
                    <a:pt x="2804160" y="152781"/>
                    <a:pt x="2804160" y="341376"/>
                  </a:cubicBezTo>
                  <a:cubicBezTo>
                    <a:pt x="2804160" y="529971"/>
                    <a:pt x="2651379" y="682752"/>
                    <a:pt x="246278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904720" y="5614416"/>
            <a:ext cx="2103120" cy="512064"/>
            <a:chOff x="0" y="0"/>
            <a:chExt cx="2804160" cy="6827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804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MEDIUM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789920" y="6729984"/>
            <a:ext cx="2194560" cy="548640"/>
            <a:chOff x="0" y="0"/>
            <a:chExt cx="292608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292608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Cooking Oil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984480" y="6729984"/>
            <a:ext cx="2194560" cy="548640"/>
            <a:chOff x="0" y="0"/>
            <a:chExt cx="292608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29260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5B4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 0 L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904720" y="6748272"/>
            <a:ext cx="2103120" cy="512064"/>
            <a:chOff x="0" y="0"/>
            <a:chExt cx="2804160" cy="68275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462784" y="0"/>
                  </a:lnTo>
                  <a:cubicBezTo>
                    <a:pt x="2651379" y="0"/>
                    <a:pt x="2804160" y="152781"/>
                    <a:pt x="2804160" y="341376"/>
                  </a:cubicBezTo>
                  <a:cubicBezTo>
                    <a:pt x="2804160" y="529971"/>
                    <a:pt x="2651379" y="682752"/>
                    <a:pt x="246278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4904720" y="6748272"/>
            <a:ext cx="2103120" cy="512064"/>
            <a:chOff x="0" y="0"/>
            <a:chExt cx="280416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804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601200"/>
            <a:ext cx="9144000" cy="457200"/>
            <a:chOff x="0" y="0"/>
            <a:chExt cx="121920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Every Wrong Order Costs Money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1808226"/>
            <a:ext cx="16459200" cy="56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Small retailers order from memory, intuition or basic sales records, not data.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04875" y="2550795"/>
            <a:ext cx="8065770" cy="2670810"/>
            <a:chOff x="0" y="0"/>
            <a:chExt cx="10754360" cy="3561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54360" cy="3561080"/>
            </a:xfrm>
            <a:custGeom>
              <a:avLst/>
              <a:gdLst/>
              <a:ahLst/>
              <a:cxnLst/>
              <a:rect r="r" b="b" t="t" l="l"/>
              <a:pathLst>
                <a:path h="3561080" w="10754360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10557891" y="0"/>
                  </a:lnTo>
                  <a:cubicBezTo>
                    <a:pt x="10666349" y="0"/>
                    <a:pt x="10754360" y="88011"/>
                    <a:pt x="10754360" y="196469"/>
                  </a:cubicBezTo>
                  <a:lnTo>
                    <a:pt x="10754360" y="3364611"/>
                  </a:lnTo>
                  <a:cubicBezTo>
                    <a:pt x="10754360" y="3473069"/>
                    <a:pt x="10666349" y="3561080"/>
                    <a:pt x="10557891" y="3561080"/>
                  </a:cubicBezTo>
                  <a:lnTo>
                    <a:pt x="196469" y="3561080"/>
                  </a:lnTo>
                  <a:cubicBezTo>
                    <a:pt x="88011" y="3561080"/>
                    <a:pt x="0" y="3473069"/>
                    <a:pt x="0" y="3364611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188720" y="2676525"/>
            <a:ext cx="7315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Fast mover: Milk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76023" y="3462023"/>
            <a:ext cx="1122683" cy="1031243"/>
            <a:chOff x="0" y="0"/>
            <a:chExt cx="1496911" cy="13749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371854" y="0"/>
                  </a:lnTo>
                  <a:cubicBezTo>
                    <a:pt x="1440942" y="0"/>
                    <a:pt x="1496822" y="56007"/>
                    <a:pt x="1496822" y="124968"/>
                  </a:cubicBezTo>
                  <a:lnTo>
                    <a:pt x="1496822" y="1249934"/>
                  </a:lnTo>
                  <a:cubicBezTo>
                    <a:pt x="1496822" y="1319022"/>
                    <a:pt x="1440815" y="1374902"/>
                    <a:pt x="13718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F87171"/>
            </a:solidFill>
            <a:ln w="25400" cap="sq">
              <a:solidFill>
                <a:srgbClr val="F8717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492759" y="3462023"/>
            <a:ext cx="1122683" cy="1031243"/>
            <a:chOff x="0" y="0"/>
            <a:chExt cx="1496911" cy="1374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371854" y="0"/>
                  </a:lnTo>
                  <a:cubicBezTo>
                    <a:pt x="1440942" y="0"/>
                    <a:pt x="1496822" y="56007"/>
                    <a:pt x="1496822" y="124968"/>
                  </a:cubicBezTo>
                  <a:lnTo>
                    <a:pt x="1496822" y="1249934"/>
                  </a:lnTo>
                  <a:cubicBezTo>
                    <a:pt x="1496822" y="1319022"/>
                    <a:pt x="1440815" y="1374902"/>
                    <a:pt x="13718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857" t="0" r="-67863" b="-6"/>
              </a:stretch>
            </a:blipFill>
            <a:ln w="25400" cap="sq">
              <a:solidFill>
                <a:srgbClr val="F87171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809495" y="3462023"/>
            <a:ext cx="1122683" cy="1031243"/>
            <a:chOff x="0" y="0"/>
            <a:chExt cx="1496911" cy="13749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371854" y="0"/>
                  </a:lnTo>
                  <a:cubicBezTo>
                    <a:pt x="1440942" y="0"/>
                    <a:pt x="1496822" y="56007"/>
                    <a:pt x="1496822" y="124968"/>
                  </a:cubicBezTo>
                  <a:lnTo>
                    <a:pt x="1496822" y="1249934"/>
                  </a:lnTo>
                  <a:cubicBezTo>
                    <a:pt x="1496822" y="1319022"/>
                    <a:pt x="1440815" y="1374902"/>
                    <a:pt x="13718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857" t="0" r="-67863" b="-6"/>
              </a:stretch>
            </a:blipFill>
            <a:ln w="25400" cap="sq">
              <a:solidFill>
                <a:srgbClr val="F87171"/>
              </a:solidFill>
              <a:prstDash val="dash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126231" y="3462023"/>
            <a:ext cx="1122683" cy="1031243"/>
            <a:chOff x="0" y="0"/>
            <a:chExt cx="1496911" cy="13749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371854" y="0"/>
                  </a:lnTo>
                  <a:cubicBezTo>
                    <a:pt x="1440942" y="0"/>
                    <a:pt x="1496822" y="56007"/>
                    <a:pt x="1496822" y="124968"/>
                  </a:cubicBezTo>
                  <a:lnTo>
                    <a:pt x="1496822" y="1249934"/>
                  </a:lnTo>
                  <a:cubicBezTo>
                    <a:pt x="1496822" y="1319022"/>
                    <a:pt x="1440815" y="1374902"/>
                    <a:pt x="13718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857" t="0" r="-67863" b="-6"/>
              </a:stretch>
            </a:blipFill>
            <a:ln w="25400" cap="sq">
              <a:solidFill>
                <a:srgbClr val="F87171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442967" y="3462023"/>
            <a:ext cx="1122683" cy="1031243"/>
            <a:chOff x="0" y="0"/>
            <a:chExt cx="1496911" cy="1374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371854" y="0"/>
                  </a:lnTo>
                  <a:cubicBezTo>
                    <a:pt x="1440942" y="0"/>
                    <a:pt x="1496822" y="56007"/>
                    <a:pt x="1496822" y="124968"/>
                  </a:cubicBezTo>
                  <a:lnTo>
                    <a:pt x="1496822" y="1249934"/>
                  </a:lnTo>
                  <a:cubicBezTo>
                    <a:pt x="1496822" y="1319022"/>
                    <a:pt x="1440815" y="1374902"/>
                    <a:pt x="13718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857" t="0" r="-67863" b="-6"/>
              </a:stretch>
            </a:blipFill>
            <a:ln w="25400" cap="sq">
              <a:solidFill>
                <a:srgbClr val="F87171"/>
              </a:solidFill>
              <a:prstDash val="dash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759703" y="3462023"/>
            <a:ext cx="1122683" cy="1031243"/>
            <a:chOff x="0" y="0"/>
            <a:chExt cx="1496911" cy="13749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371854" y="0"/>
                  </a:lnTo>
                  <a:cubicBezTo>
                    <a:pt x="1440942" y="0"/>
                    <a:pt x="1496822" y="56007"/>
                    <a:pt x="1496822" y="124968"/>
                  </a:cubicBezTo>
                  <a:lnTo>
                    <a:pt x="1496822" y="1249934"/>
                  </a:lnTo>
                  <a:cubicBezTo>
                    <a:pt x="1496822" y="1319022"/>
                    <a:pt x="1440815" y="1374902"/>
                    <a:pt x="13718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857" t="0" r="-67863" b="-6"/>
              </a:stretch>
            </a:blipFill>
            <a:ln w="25400" cap="sq">
              <a:solidFill>
                <a:srgbClr val="F87171"/>
              </a:solidFill>
              <a:prstDash val="dash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188720" y="4570476"/>
            <a:ext cx="7498080" cy="55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871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EMPTY SHELF: lost sales, lost customers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17355" y="2550795"/>
            <a:ext cx="8065770" cy="2670810"/>
            <a:chOff x="0" y="0"/>
            <a:chExt cx="10754360" cy="3561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54360" cy="3561080"/>
            </a:xfrm>
            <a:custGeom>
              <a:avLst/>
              <a:gdLst/>
              <a:ahLst/>
              <a:cxnLst/>
              <a:rect r="r" b="b" t="t" l="l"/>
              <a:pathLst>
                <a:path h="3561080" w="10754360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10557891" y="0"/>
                  </a:lnTo>
                  <a:cubicBezTo>
                    <a:pt x="10666349" y="0"/>
                    <a:pt x="10754360" y="88011"/>
                    <a:pt x="10754360" y="196469"/>
                  </a:cubicBezTo>
                  <a:lnTo>
                    <a:pt x="10754360" y="3364611"/>
                  </a:lnTo>
                  <a:cubicBezTo>
                    <a:pt x="10754360" y="3473069"/>
                    <a:pt x="10666349" y="3561080"/>
                    <a:pt x="10557891" y="3561080"/>
                  </a:cubicBezTo>
                  <a:lnTo>
                    <a:pt x="196469" y="3561080"/>
                  </a:lnTo>
                  <a:cubicBezTo>
                    <a:pt x="88011" y="3561080"/>
                    <a:pt x="0" y="3473069"/>
                    <a:pt x="0" y="3364611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601200" y="2676525"/>
            <a:ext cx="7315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Slow mover: Biscuits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588503" y="3462023"/>
            <a:ext cx="1122683" cy="1031243"/>
            <a:chOff x="0" y="0"/>
            <a:chExt cx="1496911" cy="13749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371854" y="0"/>
                  </a:lnTo>
                  <a:cubicBezTo>
                    <a:pt x="1440942" y="0"/>
                    <a:pt x="1496822" y="56007"/>
                    <a:pt x="1496822" y="124968"/>
                  </a:cubicBezTo>
                  <a:lnTo>
                    <a:pt x="1496822" y="1249934"/>
                  </a:lnTo>
                  <a:cubicBezTo>
                    <a:pt x="1496822" y="1319022"/>
                    <a:pt x="1440815" y="1374902"/>
                    <a:pt x="13718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905239" y="3462023"/>
            <a:ext cx="1122683" cy="1031243"/>
            <a:chOff x="0" y="0"/>
            <a:chExt cx="1496911" cy="13749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371854" y="0"/>
                  </a:lnTo>
                  <a:cubicBezTo>
                    <a:pt x="1440942" y="0"/>
                    <a:pt x="1496822" y="56007"/>
                    <a:pt x="1496822" y="124968"/>
                  </a:cubicBezTo>
                  <a:lnTo>
                    <a:pt x="1496822" y="1249934"/>
                  </a:lnTo>
                  <a:cubicBezTo>
                    <a:pt x="1496822" y="1319022"/>
                    <a:pt x="1440815" y="1374902"/>
                    <a:pt x="13718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221975" y="3462023"/>
            <a:ext cx="1122683" cy="1031243"/>
            <a:chOff x="0" y="0"/>
            <a:chExt cx="1496911" cy="13749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371854" y="0"/>
                  </a:lnTo>
                  <a:cubicBezTo>
                    <a:pt x="1440942" y="0"/>
                    <a:pt x="1496822" y="56007"/>
                    <a:pt x="1496822" y="124968"/>
                  </a:cubicBezTo>
                  <a:lnTo>
                    <a:pt x="1496822" y="1249934"/>
                  </a:lnTo>
                  <a:cubicBezTo>
                    <a:pt x="1496822" y="1319022"/>
                    <a:pt x="1440815" y="1374902"/>
                    <a:pt x="13718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538711" y="3462023"/>
            <a:ext cx="1122683" cy="1031243"/>
            <a:chOff x="0" y="0"/>
            <a:chExt cx="1496911" cy="13749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371854" y="0"/>
                  </a:lnTo>
                  <a:cubicBezTo>
                    <a:pt x="1440942" y="0"/>
                    <a:pt x="1496822" y="56007"/>
                    <a:pt x="1496822" y="124968"/>
                  </a:cubicBezTo>
                  <a:lnTo>
                    <a:pt x="1496822" y="1249934"/>
                  </a:lnTo>
                  <a:cubicBezTo>
                    <a:pt x="1496822" y="1319022"/>
                    <a:pt x="1440815" y="1374902"/>
                    <a:pt x="13718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4855447" y="3462023"/>
            <a:ext cx="1122683" cy="1031243"/>
            <a:chOff x="0" y="0"/>
            <a:chExt cx="1496911" cy="13749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371854" y="0"/>
                  </a:lnTo>
                  <a:cubicBezTo>
                    <a:pt x="1440942" y="0"/>
                    <a:pt x="1496822" y="56007"/>
                    <a:pt x="1496822" y="124968"/>
                  </a:cubicBezTo>
                  <a:lnTo>
                    <a:pt x="1496822" y="1249934"/>
                  </a:lnTo>
                  <a:cubicBezTo>
                    <a:pt x="1496822" y="1319022"/>
                    <a:pt x="1440815" y="1374902"/>
                    <a:pt x="13718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6172183" y="3462023"/>
            <a:ext cx="1122683" cy="1031243"/>
            <a:chOff x="0" y="0"/>
            <a:chExt cx="1496911" cy="13749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371854" y="0"/>
                  </a:lnTo>
                  <a:cubicBezTo>
                    <a:pt x="1440942" y="0"/>
                    <a:pt x="1496822" y="56007"/>
                    <a:pt x="1496822" y="124968"/>
                  </a:cubicBezTo>
                  <a:lnTo>
                    <a:pt x="1496822" y="1249934"/>
                  </a:lnTo>
                  <a:cubicBezTo>
                    <a:pt x="1496822" y="1319022"/>
                    <a:pt x="1440815" y="1374902"/>
                    <a:pt x="13718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9601200" y="4570476"/>
            <a:ext cx="7498080" cy="55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EXCESS STOCK: cash locked, expiry risk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04875" y="5476875"/>
            <a:ext cx="5231130" cy="2670810"/>
            <a:chOff x="0" y="0"/>
            <a:chExt cx="6974840" cy="3561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74839" cy="3561080"/>
            </a:xfrm>
            <a:custGeom>
              <a:avLst/>
              <a:gdLst/>
              <a:ahLst/>
              <a:cxnLst/>
              <a:rect r="r" b="b" t="t" l="l"/>
              <a:pathLst>
                <a:path h="3561080" w="6974839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6778371" y="0"/>
                  </a:lnTo>
                  <a:cubicBezTo>
                    <a:pt x="6886828" y="0"/>
                    <a:pt x="6974839" y="88011"/>
                    <a:pt x="6974839" y="196469"/>
                  </a:cubicBezTo>
                  <a:lnTo>
                    <a:pt x="6974839" y="3364611"/>
                  </a:lnTo>
                  <a:cubicBezTo>
                    <a:pt x="6974839" y="3473069"/>
                    <a:pt x="6886828" y="3561080"/>
                    <a:pt x="6778371" y="3561080"/>
                  </a:cubicBezTo>
                  <a:lnTo>
                    <a:pt x="196469" y="3561080"/>
                  </a:lnTo>
                  <a:cubicBezTo>
                    <a:pt x="88011" y="3561080"/>
                    <a:pt x="0" y="3473069"/>
                    <a:pt x="0" y="3364611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88720" y="5705856"/>
            <a:ext cx="731520" cy="731520"/>
            <a:chOff x="0" y="0"/>
            <a:chExt cx="975360" cy="975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88720" y="5705856"/>
            <a:ext cx="731520" cy="731520"/>
            <a:chOff x="0" y="0"/>
            <a:chExt cx="975360" cy="975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103120" y="5705856"/>
            <a:ext cx="3840480" cy="731520"/>
            <a:chOff x="0" y="0"/>
            <a:chExt cx="5120640" cy="975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51206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Stockouts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88720" y="6608445"/>
            <a:ext cx="466344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Fast movers run out before the next delivery.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528435" y="5476875"/>
            <a:ext cx="5231130" cy="2670810"/>
            <a:chOff x="0" y="0"/>
            <a:chExt cx="6974840" cy="3561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74839" cy="3561080"/>
            </a:xfrm>
            <a:custGeom>
              <a:avLst/>
              <a:gdLst/>
              <a:ahLst/>
              <a:cxnLst/>
              <a:rect r="r" b="b" t="t" l="l"/>
              <a:pathLst>
                <a:path h="3561080" w="6974839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6778371" y="0"/>
                  </a:lnTo>
                  <a:cubicBezTo>
                    <a:pt x="6886828" y="0"/>
                    <a:pt x="6974839" y="88011"/>
                    <a:pt x="6974839" y="196469"/>
                  </a:cubicBezTo>
                  <a:lnTo>
                    <a:pt x="6974839" y="3364611"/>
                  </a:lnTo>
                  <a:cubicBezTo>
                    <a:pt x="6974839" y="3473069"/>
                    <a:pt x="6886828" y="3561080"/>
                    <a:pt x="6778371" y="3561080"/>
                  </a:cubicBezTo>
                  <a:lnTo>
                    <a:pt x="196469" y="3561080"/>
                  </a:lnTo>
                  <a:cubicBezTo>
                    <a:pt x="88011" y="3561080"/>
                    <a:pt x="0" y="3473069"/>
                    <a:pt x="0" y="3364611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812280" y="5705856"/>
            <a:ext cx="731520" cy="731520"/>
            <a:chOff x="0" y="0"/>
            <a:chExt cx="975360" cy="9753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812280" y="5705856"/>
            <a:ext cx="731520" cy="731520"/>
            <a:chOff x="0" y="0"/>
            <a:chExt cx="975360" cy="975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726680" y="5705856"/>
            <a:ext cx="3840480" cy="731520"/>
            <a:chOff x="0" y="0"/>
            <a:chExt cx="5120640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51206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Overstocking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6812280" y="6608445"/>
            <a:ext cx="466344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Slow movers tie up working capital.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151995" y="5476875"/>
            <a:ext cx="5231130" cy="2670810"/>
            <a:chOff x="0" y="0"/>
            <a:chExt cx="6974840" cy="35610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974839" cy="3561080"/>
            </a:xfrm>
            <a:custGeom>
              <a:avLst/>
              <a:gdLst/>
              <a:ahLst/>
              <a:cxnLst/>
              <a:rect r="r" b="b" t="t" l="l"/>
              <a:pathLst>
                <a:path h="3561080" w="6974839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6778371" y="0"/>
                  </a:lnTo>
                  <a:cubicBezTo>
                    <a:pt x="6886828" y="0"/>
                    <a:pt x="6974839" y="88011"/>
                    <a:pt x="6974839" y="196469"/>
                  </a:cubicBezTo>
                  <a:lnTo>
                    <a:pt x="6974839" y="3364611"/>
                  </a:lnTo>
                  <a:cubicBezTo>
                    <a:pt x="6974839" y="3473069"/>
                    <a:pt x="6886828" y="3561080"/>
                    <a:pt x="6778371" y="3561080"/>
                  </a:cubicBezTo>
                  <a:lnTo>
                    <a:pt x="196469" y="3561080"/>
                  </a:lnTo>
                  <a:cubicBezTo>
                    <a:pt x="88011" y="3561080"/>
                    <a:pt x="0" y="3473069"/>
                    <a:pt x="0" y="3364611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435840" y="5705856"/>
            <a:ext cx="731520" cy="731520"/>
            <a:chOff x="0" y="0"/>
            <a:chExt cx="975360" cy="975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435840" y="5705856"/>
            <a:ext cx="731520" cy="731520"/>
            <a:chOff x="0" y="0"/>
            <a:chExt cx="975360" cy="9753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350240" y="5705856"/>
            <a:ext cx="3840480" cy="731520"/>
            <a:chOff x="0" y="0"/>
            <a:chExt cx="5120640" cy="9753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51206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Expiry risk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2435840" y="6608445"/>
            <a:ext cx="466344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Short-life items expire before they sell.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914400" y="8412480"/>
            <a:ext cx="16459200" cy="914400"/>
            <a:chOff x="0" y="0"/>
            <a:chExt cx="2194560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66675"/>
              <a:ext cx="21945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Meet StockSense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2276475"/>
            <a:ext cx="2945130" cy="4225290"/>
            <a:chOff x="0" y="0"/>
            <a:chExt cx="3926840" cy="5633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26840" cy="5633720"/>
            </a:xfrm>
            <a:custGeom>
              <a:avLst/>
              <a:gdLst/>
              <a:ahLst/>
              <a:cxnLst/>
              <a:rect r="r" b="b" t="t" l="l"/>
              <a:pathLst>
                <a:path h="5633720" w="39268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3730498" y="0"/>
                  </a:lnTo>
                  <a:cubicBezTo>
                    <a:pt x="3838956" y="0"/>
                    <a:pt x="3926840" y="87884"/>
                    <a:pt x="3926840" y="196342"/>
                  </a:cubicBezTo>
                  <a:lnTo>
                    <a:pt x="3926840" y="5437378"/>
                  </a:lnTo>
                  <a:cubicBezTo>
                    <a:pt x="3926840" y="5545836"/>
                    <a:pt x="3838956" y="5633720"/>
                    <a:pt x="3730498" y="5633720"/>
                  </a:cubicBezTo>
                  <a:lnTo>
                    <a:pt x="196342" y="5633720"/>
                  </a:lnTo>
                  <a:cubicBezTo>
                    <a:pt x="87884" y="5633720"/>
                    <a:pt x="0" y="5545836"/>
                    <a:pt x="0" y="5437378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33856" y="2505456"/>
            <a:ext cx="731520" cy="731520"/>
            <a:chOff x="0" y="0"/>
            <a:chExt cx="97536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33856" y="2505456"/>
            <a:ext cx="731520" cy="731520"/>
            <a:chOff x="0" y="0"/>
            <a:chExt cx="97536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33856" y="3316605"/>
            <a:ext cx="2560320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3856" y="4442460"/>
            <a:ext cx="25603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Sales history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Current stock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Lead time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Shelf life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40480" y="3764280"/>
            <a:ext cx="4572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true">
                <a:solidFill>
                  <a:srgbClr val="34D3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288155" y="2276475"/>
            <a:ext cx="2945130" cy="4225290"/>
            <a:chOff x="0" y="0"/>
            <a:chExt cx="3926840" cy="5633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26840" cy="5633720"/>
            </a:xfrm>
            <a:custGeom>
              <a:avLst/>
              <a:gdLst/>
              <a:ahLst/>
              <a:cxnLst/>
              <a:rect r="r" b="b" t="t" l="l"/>
              <a:pathLst>
                <a:path h="5633720" w="39268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3730498" y="0"/>
                  </a:lnTo>
                  <a:cubicBezTo>
                    <a:pt x="3838956" y="0"/>
                    <a:pt x="3926840" y="87884"/>
                    <a:pt x="3926840" y="196342"/>
                  </a:cubicBezTo>
                  <a:lnTo>
                    <a:pt x="3926840" y="5437378"/>
                  </a:lnTo>
                  <a:cubicBezTo>
                    <a:pt x="3926840" y="5545836"/>
                    <a:pt x="3838956" y="5633720"/>
                    <a:pt x="3730498" y="5633720"/>
                  </a:cubicBezTo>
                  <a:lnTo>
                    <a:pt x="196342" y="5633720"/>
                  </a:lnTo>
                  <a:cubicBezTo>
                    <a:pt x="87884" y="5633720"/>
                    <a:pt x="0" y="5545836"/>
                    <a:pt x="0" y="5437378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517136" y="2505456"/>
            <a:ext cx="731520" cy="731520"/>
            <a:chOff x="0" y="0"/>
            <a:chExt cx="97536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517136" y="2505456"/>
            <a:ext cx="731520" cy="731520"/>
            <a:chOff x="0" y="0"/>
            <a:chExt cx="97536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517136" y="3316605"/>
            <a:ext cx="2560320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processing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17136" y="4442460"/>
            <a:ext cx="25603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Clean and aggregate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Flag outliers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23760" y="3764280"/>
            <a:ext cx="4572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true">
                <a:solidFill>
                  <a:srgbClr val="34D3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671435" y="2276475"/>
            <a:ext cx="2945130" cy="4225290"/>
            <a:chOff x="0" y="0"/>
            <a:chExt cx="3926840" cy="5633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26840" cy="5633720"/>
            </a:xfrm>
            <a:custGeom>
              <a:avLst/>
              <a:gdLst/>
              <a:ahLst/>
              <a:cxnLst/>
              <a:rect r="r" b="b" t="t" l="l"/>
              <a:pathLst>
                <a:path h="5633720" w="39268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3730498" y="0"/>
                  </a:lnTo>
                  <a:cubicBezTo>
                    <a:pt x="3838956" y="0"/>
                    <a:pt x="3926840" y="87884"/>
                    <a:pt x="3926840" y="196342"/>
                  </a:cubicBezTo>
                  <a:lnTo>
                    <a:pt x="3926840" y="5437378"/>
                  </a:lnTo>
                  <a:cubicBezTo>
                    <a:pt x="3926840" y="5545836"/>
                    <a:pt x="3838956" y="5633720"/>
                    <a:pt x="3730498" y="5633720"/>
                  </a:cubicBezTo>
                  <a:lnTo>
                    <a:pt x="196342" y="5633720"/>
                  </a:lnTo>
                  <a:cubicBezTo>
                    <a:pt x="87884" y="5633720"/>
                    <a:pt x="0" y="5545836"/>
                    <a:pt x="0" y="5437378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900416" y="2505456"/>
            <a:ext cx="731520" cy="731520"/>
            <a:chOff x="0" y="0"/>
            <a:chExt cx="9753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900416" y="2505456"/>
            <a:ext cx="731520" cy="731520"/>
            <a:chOff x="0" y="0"/>
            <a:chExt cx="97536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900416" y="3316605"/>
            <a:ext cx="2560320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Demand forecasting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900416" y="4442460"/>
            <a:ext cx="25603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Product-level demand over lead time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07040" y="3764280"/>
            <a:ext cx="4572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true">
                <a:solidFill>
                  <a:srgbClr val="34D3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054715" y="2276475"/>
            <a:ext cx="2945130" cy="4225290"/>
            <a:chOff x="0" y="0"/>
            <a:chExt cx="3926840" cy="5633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26840" cy="5633720"/>
            </a:xfrm>
            <a:custGeom>
              <a:avLst/>
              <a:gdLst/>
              <a:ahLst/>
              <a:cxnLst/>
              <a:rect r="r" b="b" t="t" l="l"/>
              <a:pathLst>
                <a:path h="5633720" w="39268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3730498" y="0"/>
                  </a:lnTo>
                  <a:cubicBezTo>
                    <a:pt x="3838956" y="0"/>
                    <a:pt x="3926840" y="87884"/>
                    <a:pt x="3926840" y="196342"/>
                  </a:cubicBezTo>
                  <a:lnTo>
                    <a:pt x="3926840" y="5437378"/>
                  </a:lnTo>
                  <a:cubicBezTo>
                    <a:pt x="3926840" y="5545836"/>
                    <a:pt x="3838956" y="5633720"/>
                    <a:pt x="3730498" y="5633720"/>
                  </a:cubicBezTo>
                  <a:lnTo>
                    <a:pt x="196342" y="5633720"/>
                  </a:lnTo>
                  <a:cubicBezTo>
                    <a:pt x="87884" y="5633720"/>
                    <a:pt x="0" y="5545836"/>
                    <a:pt x="0" y="5437378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283696" y="2505456"/>
            <a:ext cx="731520" cy="731520"/>
            <a:chOff x="0" y="0"/>
            <a:chExt cx="97536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283696" y="2505456"/>
            <a:ext cx="731520" cy="731520"/>
            <a:chOff x="0" y="0"/>
            <a:chExt cx="975360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283696" y="3316605"/>
            <a:ext cx="2560320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Inventory risk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283696" y="4442460"/>
            <a:ext cx="25603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Usable and incoming stock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Expiry, stockout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990320" y="3764280"/>
            <a:ext cx="4572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true">
                <a:solidFill>
                  <a:srgbClr val="34D3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4437995" y="2276475"/>
            <a:ext cx="2945130" cy="4225290"/>
            <a:chOff x="0" y="0"/>
            <a:chExt cx="3926840" cy="5633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926840" cy="5633720"/>
            </a:xfrm>
            <a:custGeom>
              <a:avLst/>
              <a:gdLst/>
              <a:ahLst/>
              <a:cxnLst/>
              <a:rect r="r" b="b" t="t" l="l"/>
              <a:pathLst>
                <a:path h="5633720" w="39268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3730498" y="0"/>
                  </a:lnTo>
                  <a:cubicBezTo>
                    <a:pt x="3838956" y="0"/>
                    <a:pt x="3926840" y="87884"/>
                    <a:pt x="3926840" y="196342"/>
                  </a:cubicBezTo>
                  <a:lnTo>
                    <a:pt x="3926840" y="5437378"/>
                  </a:lnTo>
                  <a:cubicBezTo>
                    <a:pt x="3926840" y="5545836"/>
                    <a:pt x="3838956" y="5633720"/>
                    <a:pt x="3730498" y="5633720"/>
                  </a:cubicBezTo>
                  <a:lnTo>
                    <a:pt x="196342" y="5633720"/>
                  </a:lnTo>
                  <a:cubicBezTo>
                    <a:pt x="87884" y="5633720"/>
                    <a:pt x="0" y="5545836"/>
                    <a:pt x="0" y="5437378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4666976" y="2505456"/>
            <a:ext cx="731520" cy="731520"/>
            <a:chOff x="0" y="0"/>
            <a:chExt cx="97536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666976" y="2505456"/>
            <a:ext cx="731520" cy="731520"/>
            <a:chOff x="0" y="0"/>
            <a:chExt cx="975360" cy="975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4666976" y="3316605"/>
            <a:ext cx="2560320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Ranked reorder list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666976" y="4442460"/>
            <a:ext cx="25603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Quantity and priority per product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14400" y="6791325"/>
            <a:ext cx="7315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34D3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outputs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04875" y="7579995"/>
            <a:ext cx="2945130" cy="1664970"/>
            <a:chOff x="0" y="0"/>
            <a:chExt cx="3926840" cy="22199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926840" cy="2219960"/>
            </a:xfrm>
            <a:custGeom>
              <a:avLst/>
              <a:gdLst/>
              <a:ahLst/>
              <a:cxnLst/>
              <a:rect r="r" b="b" t="t" l="l"/>
              <a:pathLst>
                <a:path h="2219960" w="392684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3729482" y="0"/>
                  </a:lnTo>
                  <a:cubicBezTo>
                    <a:pt x="3838448" y="0"/>
                    <a:pt x="3926840" y="88392"/>
                    <a:pt x="3926840" y="197358"/>
                  </a:cubicBezTo>
                  <a:lnTo>
                    <a:pt x="3926840" y="2022602"/>
                  </a:lnTo>
                  <a:cubicBezTo>
                    <a:pt x="3926840" y="2131568"/>
                    <a:pt x="3838448" y="2219960"/>
                    <a:pt x="3729482" y="2219960"/>
                  </a:cubicBezTo>
                  <a:lnTo>
                    <a:pt x="197358" y="2219960"/>
                  </a:lnTo>
                  <a:cubicBezTo>
                    <a:pt x="88392" y="2219960"/>
                    <a:pt x="0" y="2131568"/>
                    <a:pt x="0" y="2022602"/>
                  </a:cubicBezTo>
                  <a:close/>
                </a:path>
              </a:pathLst>
            </a:custGeom>
            <a:solidFill>
              <a:srgbClr val="24366B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97280" y="7589520"/>
            <a:ext cx="2560320" cy="1645920"/>
            <a:chOff x="0" y="0"/>
            <a:chExt cx="3413760" cy="21945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13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34137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Predicted demand until next delivery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288155" y="7579995"/>
            <a:ext cx="2945130" cy="1664970"/>
            <a:chOff x="0" y="0"/>
            <a:chExt cx="3926840" cy="22199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926840" cy="2219960"/>
            </a:xfrm>
            <a:custGeom>
              <a:avLst/>
              <a:gdLst/>
              <a:ahLst/>
              <a:cxnLst/>
              <a:rect r="r" b="b" t="t" l="l"/>
              <a:pathLst>
                <a:path h="2219960" w="392684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3729482" y="0"/>
                  </a:lnTo>
                  <a:cubicBezTo>
                    <a:pt x="3838448" y="0"/>
                    <a:pt x="3926840" y="88392"/>
                    <a:pt x="3926840" y="197358"/>
                  </a:cubicBezTo>
                  <a:lnTo>
                    <a:pt x="3926840" y="2022602"/>
                  </a:lnTo>
                  <a:cubicBezTo>
                    <a:pt x="3926840" y="2131568"/>
                    <a:pt x="3838448" y="2219960"/>
                    <a:pt x="3729482" y="2219960"/>
                  </a:cubicBezTo>
                  <a:lnTo>
                    <a:pt x="197358" y="2219960"/>
                  </a:lnTo>
                  <a:cubicBezTo>
                    <a:pt x="88392" y="2219960"/>
                    <a:pt x="0" y="2131568"/>
                    <a:pt x="0" y="2022602"/>
                  </a:cubicBezTo>
                  <a:close/>
                </a:path>
              </a:pathLst>
            </a:custGeom>
            <a:solidFill>
              <a:srgbClr val="24366B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4480560" y="7589520"/>
            <a:ext cx="2560320" cy="1645920"/>
            <a:chOff x="0" y="0"/>
            <a:chExt cx="3413760" cy="21945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13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4137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Recommended reorder quantity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671435" y="7579995"/>
            <a:ext cx="2945130" cy="1664970"/>
            <a:chOff x="0" y="0"/>
            <a:chExt cx="3926840" cy="22199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26840" cy="2219960"/>
            </a:xfrm>
            <a:custGeom>
              <a:avLst/>
              <a:gdLst/>
              <a:ahLst/>
              <a:cxnLst/>
              <a:rect r="r" b="b" t="t" l="l"/>
              <a:pathLst>
                <a:path h="2219960" w="392684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3729482" y="0"/>
                  </a:lnTo>
                  <a:cubicBezTo>
                    <a:pt x="3838448" y="0"/>
                    <a:pt x="3926840" y="88392"/>
                    <a:pt x="3926840" y="197358"/>
                  </a:cubicBezTo>
                  <a:lnTo>
                    <a:pt x="3926840" y="2022602"/>
                  </a:lnTo>
                  <a:cubicBezTo>
                    <a:pt x="3926840" y="2131568"/>
                    <a:pt x="3838448" y="2219960"/>
                    <a:pt x="3729482" y="2219960"/>
                  </a:cubicBezTo>
                  <a:lnTo>
                    <a:pt x="197358" y="2219960"/>
                  </a:lnTo>
                  <a:cubicBezTo>
                    <a:pt x="88392" y="2219960"/>
                    <a:pt x="0" y="2131568"/>
                    <a:pt x="0" y="2022602"/>
                  </a:cubicBezTo>
                  <a:close/>
                </a:path>
              </a:pathLst>
            </a:custGeom>
            <a:solidFill>
              <a:srgbClr val="24366B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7863840" y="7589520"/>
            <a:ext cx="2560320" cy="1645920"/>
            <a:chOff x="0" y="0"/>
            <a:chExt cx="3413760" cy="21945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413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4137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Urgency and stockout risk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054715" y="7579995"/>
            <a:ext cx="2945130" cy="1664970"/>
            <a:chOff x="0" y="0"/>
            <a:chExt cx="3926840" cy="22199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26840" cy="2219960"/>
            </a:xfrm>
            <a:custGeom>
              <a:avLst/>
              <a:gdLst/>
              <a:ahLst/>
              <a:cxnLst/>
              <a:rect r="r" b="b" t="t" l="l"/>
              <a:pathLst>
                <a:path h="2219960" w="392684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3729482" y="0"/>
                  </a:lnTo>
                  <a:cubicBezTo>
                    <a:pt x="3838448" y="0"/>
                    <a:pt x="3926840" y="88392"/>
                    <a:pt x="3926840" y="197358"/>
                  </a:cubicBezTo>
                  <a:lnTo>
                    <a:pt x="3926840" y="2022602"/>
                  </a:lnTo>
                  <a:cubicBezTo>
                    <a:pt x="3926840" y="2131568"/>
                    <a:pt x="3838448" y="2219960"/>
                    <a:pt x="3729482" y="2219960"/>
                  </a:cubicBezTo>
                  <a:lnTo>
                    <a:pt x="197358" y="2219960"/>
                  </a:lnTo>
                  <a:cubicBezTo>
                    <a:pt x="88392" y="2219960"/>
                    <a:pt x="0" y="2131568"/>
                    <a:pt x="0" y="2022602"/>
                  </a:cubicBezTo>
                  <a:close/>
                </a:path>
              </a:pathLst>
            </a:custGeom>
            <a:solidFill>
              <a:srgbClr val="24366B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1247120" y="7589520"/>
            <a:ext cx="2560320" cy="1645920"/>
            <a:chOff x="0" y="0"/>
            <a:chExt cx="3413760" cy="21945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13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4137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Shelf-life and expiry warnings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437995" y="7579995"/>
            <a:ext cx="2945130" cy="1664970"/>
            <a:chOff x="0" y="0"/>
            <a:chExt cx="3926840" cy="22199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926840" cy="2219960"/>
            </a:xfrm>
            <a:custGeom>
              <a:avLst/>
              <a:gdLst/>
              <a:ahLst/>
              <a:cxnLst/>
              <a:rect r="r" b="b" t="t" l="l"/>
              <a:pathLst>
                <a:path h="2219960" w="392684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3729482" y="0"/>
                  </a:lnTo>
                  <a:cubicBezTo>
                    <a:pt x="3838448" y="0"/>
                    <a:pt x="3926840" y="88392"/>
                    <a:pt x="3926840" y="197358"/>
                  </a:cubicBezTo>
                  <a:lnTo>
                    <a:pt x="3926840" y="2022602"/>
                  </a:lnTo>
                  <a:cubicBezTo>
                    <a:pt x="3926840" y="2131568"/>
                    <a:pt x="3838448" y="2219960"/>
                    <a:pt x="3729482" y="2219960"/>
                  </a:cubicBezTo>
                  <a:lnTo>
                    <a:pt x="197358" y="2219960"/>
                  </a:lnTo>
                  <a:cubicBezTo>
                    <a:pt x="88392" y="2219960"/>
                    <a:pt x="0" y="2131568"/>
                    <a:pt x="0" y="2022602"/>
                  </a:cubicBezTo>
                  <a:close/>
                </a:path>
              </a:pathLst>
            </a:custGeom>
            <a:solidFill>
              <a:srgbClr val="24366B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4630400" y="7589520"/>
            <a:ext cx="2560320" cy="1645920"/>
            <a:chOff x="0" y="0"/>
            <a:chExt cx="3413760" cy="21945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413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34137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Prioritised purchasing list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From Raw Sales Data to Smarter Decisions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2276475"/>
            <a:ext cx="3859530" cy="6694170"/>
            <a:chOff x="0" y="0"/>
            <a:chExt cx="5146040" cy="8925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46040" cy="8925560"/>
            </a:xfrm>
            <a:custGeom>
              <a:avLst/>
              <a:gdLst/>
              <a:ahLst/>
              <a:cxnLst/>
              <a:rect r="r" b="b" t="t" l="l"/>
              <a:pathLst>
                <a:path h="8925560" w="5146040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4949952" y="0"/>
                  </a:lnTo>
                  <a:cubicBezTo>
                    <a:pt x="5058283" y="0"/>
                    <a:pt x="5146040" y="87757"/>
                    <a:pt x="5146040" y="196088"/>
                  </a:cubicBezTo>
                  <a:lnTo>
                    <a:pt x="5146040" y="8729472"/>
                  </a:lnTo>
                  <a:cubicBezTo>
                    <a:pt x="5146040" y="8837803"/>
                    <a:pt x="5058283" y="8925560"/>
                    <a:pt x="4949952" y="8925560"/>
                  </a:cubicBezTo>
                  <a:lnTo>
                    <a:pt x="196088" y="8925560"/>
                  </a:lnTo>
                  <a:cubicBezTo>
                    <a:pt x="87757" y="8925560"/>
                    <a:pt x="0" y="8837803"/>
                    <a:pt x="0" y="8729472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88720" y="2560320"/>
            <a:ext cx="731520" cy="731520"/>
            <a:chOff x="0" y="0"/>
            <a:chExt cx="97536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8720" y="2560320"/>
            <a:ext cx="731520" cy="731520"/>
            <a:chOff x="0" y="0"/>
            <a:chExt cx="97536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88720" y="3499485"/>
            <a:ext cx="32918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INPUT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8720" y="4514850"/>
            <a:ext cx="3291840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Upload sales CSV (product, date, quantity, price). Enter stock, lead time and shelf life.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88720" y="8046720"/>
            <a:ext cx="1828800" cy="512064"/>
            <a:chOff x="0" y="0"/>
            <a:chExt cx="243840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097024" y="0"/>
                  </a:lnTo>
                  <a:cubicBezTo>
                    <a:pt x="2285619" y="0"/>
                    <a:pt x="2438400" y="152781"/>
                    <a:pt x="2438400" y="341376"/>
                  </a:cubicBezTo>
                  <a:cubicBezTo>
                    <a:pt x="2438400" y="529971"/>
                    <a:pt x="2285619" y="682752"/>
                    <a:pt x="209702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88720" y="8046720"/>
            <a:ext cx="1828800" cy="512064"/>
            <a:chOff x="0" y="0"/>
            <a:chExt cx="243840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4384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CSV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11115" y="2276475"/>
            <a:ext cx="3859530" cy="6694170"/>
            <a:chOff x="0" y="0"/>
            <a:chExt cx="5146040" cy="8925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46040" cy="8925560"/>
            </a:xfrm>
            <a:custGeom>
              <a:avLst/>
              <a:gdLst/>
              <a:ahLst/>
              <a:cxnLst/>
              <a:rect r="r" b="b" t="t" l="l"/>
              <a:pathLst>
                <a:path h="8925560" w="5146040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4949952" y="0"/>
                  </a:lnTo>
                  <a:cubicBezTo>
                    <a:pt x="5058283" y="0"/>
                    <a:pt x="5146040" y="87757"/>
                    <a:pt x="5146040" y="196088"/>
                  </a:cubicBezTo>
                  <a:lnTo>
                    <a:pt x="5146040" y="8729472"/>
                  </a:lnTo>
                  <a:cubicBezTo>
                    <a:pt x="5146040" y="8837803"/>
                    <a:pt x="5058283" y="8925560"/>
                    <a:pt x="4949952" y="8925560"/>
                  </a:cubicBezTo>
                  <a:lnTo>
                    <a:pt x="196088" y="8925560"/>
                  </a:lnTo>
                  <a:cubicBezTo>
                    <a:pt x="87757" y="8925560"/>
                    <a:pt x="0" y="8837803"/>
                    <a:pt x="0" y="8729472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394960" y="2560320"/>
            <a:ext cx="731520" cy="731520"/>
            <a:chOff x="0" y="0"/>
            <a:chExt cx="9753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394960" y="2560320"/>
            <a:ext cx="731520" cy="731520"/>
            <a:chOff x="0" y="0"/>
            <a:chExt cx="97536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394960" y="3499485"/>
            <a:ext cx="32918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PREPARATION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94960" y="4514850"/>
            <a:ext cx="3291840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Fix missing values, aggregate by product and day, flag unusual spikes.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394960" y="8046720"/>
            <a:ext cx="1828800" cy="512064"/>
            <a:chOff x="0" y="0"/>
            <a:chExt cx="243840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097024" y="0"/>
                  </a:lnTo>
                  <a:cubicBezTo>
                    <a:pt x="2285619" y="0"/>
                    <a:pt x="2438400" y="152781"/>
                    <a:pt x="2438400" y="341376"/>
                  </a:cubicBezTo>
                  <a:cubicBezTo>
                    <a:pt x="2438400" y="529971"/>
                    <a:pt x="2285619" y="682752"/>
                    <a:pt x="209702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394960" y="8046720"/>
            <a:ext cx="1828800" cy="512064"/>
            <a:chOff x="0" y="0"/>
            <a:chExt cx="243840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4384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17355" y="2276475"/>
            <a:ext cx="3859530" cy="6694170"/>
            <a:chOff x="0" y="0"/>
            <a:chExt cx="5146040" cy="89255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46040" cy="8925560"/>
            </a:xfrm>
            <a:custGeom>
              <a:avLst/>
              <a:gdLst/>
              <a:ahLst/>
              <a:cxnLst/>
              <a:rect r="r" b="b" t="t" l="l"/>
              <a:pathLst>
                <a:path h="8925560" w="5146040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4949952" y="0"/>
                  </a:lnTo>
                  <a:cubicBezTo>
                    <a:pt x="5058283" y="0"/>
                    <a:pt x="5146040" y="87757"/>
                    <a:pt x="5146040" y="196088"/>
                  </a:cubicBezTo>
                  <a:lnTo>
                    <a:pt x="5146040" y="8729472"/>
                  </a:lnTo>
                  <a:cubicBezTo>
                    <a:pt x="5146040" y="8837803"/>
                    <a:pt x="5058283" y="8925560"/>
                    <a:pt x="4949952" y="8925560"/>
                  </a:cubicBezTo>
                  <a:lnTo>
                    <a:pt x="196088" y="8925560"/>
                  </a:lnTo>
                  <a:cubicBezTo>
                    <a:pt x="87757" y="8925560"/>
                    <a:pt x="0" y="8837803"/>
                    <a:pt x="0" y="8729472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601200" y="2560320"/>
            <a:ext cx="731520" cy="731520"/>
            <a:chOff x="0" y="0"/>
            <a:chExt cx="97536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601200" y="2560320"/>
            <a:ext cx="731520" cy="731520"/>
            <a:chOff x="0" y="0"/>
            <a:chExt cx="97536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601200" y="3499485"/>
            <a:ext cx="32918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DEMAND FORECAST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01200" y="4514850"/>
            <a:ext cx="3291840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Estimate demand over the lead-time window with baseline methods; compare models where data allows.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601200" y="8046720"/>
            <a:ext cx="1828800" cy="512064"/>
            <a:chOff x="0" y="0"/>
            <a:chExt cx="2438400" cy="6827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097024" y="0"/>
                  </a:lnTo>
                  <a:cubicBezTo>
                    <a:pt x="2285619" y="0"/>
                    <a:pt x="2438400" y="152781"/>
                    <a:pt x="2438400" y="341376"/>
                  </a:cubicBezTo>
                  <a:cubicBezTo>
                    <a:pt x="2438400" y="529971"/>
                    <a:pt x="2285619" y="682752"/>
                    <a:pt x="209702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601200" y="8046720"/>
            <a:ext cx="1828800" cy="512064"/>
            <a:chOff x="0" y="0"/>
            <a:chExt cx="24384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4384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Forecast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523595" y="2276475"/>
            <a:ext cx="3859530" cy="6694170"/>
            <a:chOff x="0" y="0"/>
            <a:chExt cx="5146040" cy="89255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46040" cy="8925560"/>
            </a:xfrm>
            <a:custGeom>
              <a:avLst/>
              <a:gdLst/>
              <a:ahLst/>
              <a:cxnLst/>
              <a:rect r="r" b="b" t="t" l="l"/>
              <a:pathLst>
                <a:path h="8925560" w="5146040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4949952" y="0"/>
                  </a:lnTo>
                  <a:cubicBezTo>
                    <a:pt x="5058283" y="0"/>
                    <a:pt x="5146040" y="87757"/>
                    <a:pt x="5146040" y="196088"/>
                  </a:cubicBezTo>
                  <a:lnTo>
                    <a:pt x="5146040" y="8729472"/>
                  </a:lnTo>
                  <a:cubicBezTo>
                    <a:pt x="5146040" y="8837803"/>
                    <a:pt x="5058283" y="8925560"/>
                    <a:pt x="4949952" y="8925560"/>
                  </a:cubicBezTo>
                  <a:lnTo>
                    <a:pt x="196088" y="8925560"/>
                  </a:lnTo>
                  <a:cubicBezTo>
                    <a:pt x="87757" y="8925560"/>
                    <a:pt x="0" y="8837803"/>
                    <a:pt x="0" y="8729472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807440" y="2560320"/>
            <a:ext cx="731520" cy="731520"/>
            <a:chOff x="0" y="0"/>
            <a:chExt cx="975360" cy="975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807440" y="2560320"/>
            <a:ext cx="731520" cy="731520"/>
            <a:chOff x="0" y="0"/>
            <a:chExt cx="975360" cy="9753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3807440" y="3499485"/>
            <a:ext cx="32918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REORDER OPTIMIZATION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807440" y="4514850"/>
            <a:ext cx="3291840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 demand with usable and incoming stock, apply shelf-life limits, size orders, rank by urgency.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3807440" y="8046720"/>
            <a:ext cx="1828800" cy="512064"/>
            <a:chOff x="0" y="0"/>
            <a:chExt cx="243840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097024" y="0"/>
                  </a:lnTo>
                  <a:cubicBezTo>
                    <a:pt x="2285619" y="0"/>
                    <a:pt x="2438400" y="152781"/>
                    <a:pt x="2438400" y="341376"/>
                  </a:cubicBezTo>
                  <a:cubicBezTo>
                    <a:pt x="2438400" y="529971"/>
                    <a:pt x="2285619" y="682752"/>
                    <a:pt x="209702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807440" y="8046720"/>
            <a:ext cx="1828800" cy="512064"/>
            <a:chOff x="0" y="0"/>
            <a:chExt cx="243840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24384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Forecast Demand. Optimize Every Order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4864" y="1133856"/>
            <a:ext cx="11631168" cy="7790688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0963275" y="2093595"/>
            <a:ext cx="6419850" cy="3859530"/>
            <a:chOff x="0" y="0"/>
            <a:chExt cx="8559800" cy="5146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59800" cy="5146040"/>
            </a:xfrm>
            <a:custGeom>
              <a:avLst/>
              <a:gdLst/>
              <a:ahLst/>
              <a:cxnLst/>
              <a:rect r="r" b="b" t="t" l="l"/>
              <a:pathLst>
                <a:path h="5146040" w="8559800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8363712" y="0"/>
                  </a:lnTo>
                  <a:cubicBezTo>
                    <a:pt x="8472043" y="0"/>
                    <a:pt x="8559800" y="87757"/>
                    <a:pt x="8559800" y="196088"/>
                  </a:cubicBezTo>
                  <a:lnTo>
                    <a:pt x="8559800" y="4949952"/>
                  </a:lnTo>
                  <a:cubicBezTo>
                    <a:pt x="8559800" y="5058283"/>
                    <a:pt x="8472043" y="5146040"/>
                    <a:pt x="8363712" y="5146040"/>
                  </a:cubicBezTo>
                  <a:lnTo>
                    <a:pt x="196088" y="5146040"/>
                  </a:lnTo>
                  <a:cubicBezTo>
                    <a:pt x="87757" y="5146040"/>
                    <a:pt x="0" y="5058283"/>
                    <a:pt x="0" y="4949952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338560" y="2219325"/>
            <a:ext cx="566928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formulas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38560" y="2887980"/>
            <a:ext cx="5669280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Lead-time demand = daily forecast x lead time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Target stock = demand over (lead time + review period) + safety stock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Order = max(0, target - usable stock - incoming stock)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963275" y="6208395"/>
            <a:ext cx="6419850" cy="1756410"/>
            <a:chOff x="0" y="0"/>
            <a:chExt cx="8559800" cy="2341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59800" cy="2341880"/>
            </a:xfrm>
            <a:custGeom>
              <a:avLst/>
              <a:gdLst/>
              <a:ahLst/>
              <a:cxnLst/>
              <a:rect r="r" b="b" t="t" l="l"/>
              <a:pathLst>
                <a:path h="2341880" w="855980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8362569" y="0"/>
                  </a:lnTo>
                  <a:cubicBezTo>
                    <a:pt x="8471535" y="0"/>
                    <a:pt x="8559800" y="88265"/>
                    <a:pt x="8559800" y="197231"/>
                  </a:cubicBezTo>
                  <a:lnTo>
                    <a:pt x="8559800" y="2144649"/>
                  </a:lnTo>
                  <a:cubicBezTo>
                    <a:pt x="8559800" y="2253615"/>
                    <a:pt x="8471535" y="2341880"/>
                    <a:pt x="836256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247120" y="6309360"/>
            <a:ext cx="5852160" cy="1554480"/>
            <a:chOff x="0" y="0"/>
            <a:chExt cx="7802880" cy="2072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028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55" r="0" b="-2335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80288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A5B4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 with MAE / WAPE on held-out days. Start with moving-average or seasonal-naive baselines; use advanced models only when data supports them.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Not Just Predictions. Clear Decisions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194560"/>
          <a:ext cx="16383000" cy="5181600"/>
        </p:xfrm>
        <a:graphic>
          <a:graphicData uri="http://schemas.openxmlformats.org/drawingml/2006/table">
            <a:tbl>
              <a:tblPr/>
              <a:tblGrid>
                <a:gridCol w="2276453"/>
                <a:gridCol w="2186888"/>
                <a:gridCol w="2455584"/>
                <a:gridCol w="1649496"/>
                <a:gridCol w="2634715"/>
                <a:gridCol w="1739061"/>
                <a:gridCol w="3440803"/>
              </a:tblGrid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2D3E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Product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2D3E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Current Stock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2D3E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Forecast Demand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2D3E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Lead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2D3E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Recommended Order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2D3E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Priority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2D3E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Warning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C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Milk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 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48 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day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38 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8717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Critical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Stockout before delivery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Bread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60 pcs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90 pcs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day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30 pcs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59E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Capped by 2-day shelf life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Biscuits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55 packs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80 packs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 days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35 packs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59E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Cover under 4 days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Rice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170 kg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150 kg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 days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 kg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2D3E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Small top-up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Cooking Oil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105 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84 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 days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 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34D39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order needed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Beyond Basic Inventory Tracking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194560"/>
          <a:ext cx="16433800" cy="5698331"/>
        </p:xfrm>
        <a:graphic>
          <a:graphicData uri="http://schemas.openxmlformats.org/drawingml/2006/table">
            <a:tbl>
              <a:tblPr/>
              <a:tblGrid>
                <a:gridCol w="6550905"/>
                <a:gridCol w="2932453"/>
                <a:gridCol w="3656144"/>
                <a:gridCol w="3294298"/>
              </a:tblGrid>
              <a:tr h="7111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2D3E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Capability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2D3E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Manual ordering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2D3E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Basic inventory software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2D3E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StockSense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E"/>
                    </a:solidFill>
                  </a:tcPr>
                </a:tc>
              </a:tr>
              <a:tr h="7155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Historical sales analysis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A5B4D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4D39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4D39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E"/>
                    </a:solidFill>
                  </a:tcPr>
                </a:tc>
              </a:tr>
              <a:tr h="7111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Product-level demand forecasting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A5B4D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A5B4D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4D39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E"/>
                    </a:solidFill>
                  </a:tcPr>
                </a:tc>
              </a:tr>
              <a:tr h="7111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Lead-time-aware reorder advice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A5B4D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A5B4D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4D39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E"/>
                    </a:solidFill>
                  </a:tcPr>
                </a:tc>
              </a:tr>
              <a:tr h="7111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Shelf-life-aware quantity planning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A5B4D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A5B4D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4D39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E"/>
                    </a:solidFill>
                  </a:tcPr>
                </a:tc>
              </a:tr>
              <a:tr h="7111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Ranked purchase priorities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A5B4D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Basic alerts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4D39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E"/>
                    </a:solidFill>
                  </a:tcPr>
                </a:tc>
              </a:tr>
              <a:tr h="7111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Actionable order quantities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A5B4D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4D39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E"/>
                    </a:solidFill>
                  </a:tcPr>
                </a:tc>
              </a:tr>
              <a:tr h="7155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Seasonal and advanced models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A5B4D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A5B4D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59E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Planned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43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Built for Practical Retail Intelligence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2185035"/>
            <a:ext cx="2487930" cy="1573530"/>
            <a:chOff x="0" y="0"/>
            <a:chExt cx="3317240" cy="2098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7240" cy="2098040"/>
            </a:xfrm>
            <a:custGeom>
              <a:avLst/>
              <a:gdLst/>
              <a:ahLst/>
              <a:cxnLst/>
              <a:rect r="r" b="b" t="t" l="l"/>
              <a:pathLst>
                <a:path h="2098040" w="331724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119755" y="0"/>
                  </a:lnTo>
                  <a:cubicBezTo>
                    <a:pt x="3228848" y="0"/>
                    <a:pt x="3317240" y="88392"/>
                    <a:pt x="3317240" y="197485"/>
                  </a:cubicBezTo>
                  <a:lnTo>
                    <a:pt x="3317240" y="1900555"/>
                  </a:lnTo>
                  <a:cubicBezTo>
                    <a:pt x="3317240" y="2009648"/>
                    <a:pt x="3228848" y="2098040"/>
                    <a:pt x="3119755" y="2098040"/>
                  </a:cubicBezTo>
                  <a:lnTo>
                    <a:pt x="197485" y="2098040"/>
                  </a:lnTo>
                  <a:cubicBezTo>
                    <a:pt x="88392" y="2098040"/>
                    <a:pt x="0" y="2009648"/>
                    <a:pt x="0" y="1900555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05840" y="2194560"/>
            <a:ext cx="2286000" cy="1554480"/>
            <a:chOff x="0" y="0"/>
            <a:chExt cx="3048000" cy="2072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48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246" t="0" r="-37246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04800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Retailer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383280" y="2493645"/>
            <a:ext cx="329184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34D3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702939" y="2185035"/>
            <a:ext cx="2487930" cy="1573530"/>
            <a:chOff x="0" y="0"/>
            <a:chExt cx="3317240" cy="2098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7240" cy="2098040"/>
            </a:xfrm>
            <a:custGeom>
              <a:avLst/>
              <a:gdLst/>
              <a:ahLst/>
              <a:cxnLst/>
              <a:rect r="r" b="b" t="t" l="l"/>
              <a:pathLst>
                <a:path h="2098040" w="331724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119755" y="0"/>
                  </a:lnTo>
                  <a:cubicBezTo>
                    <a:pt x="3228848" y="0"/>
                    <a:pt x="3317240" y="88392"/>
                    <a:pt x="3317240" y="197485"/>
                  </a:cubicBezTo>
                  <a:lnTo>
                    <a:pt x="3317240" y="1900555"/>
                  </a:lnTo>
                  <a:cubicBezTo>
                    <a:pt x="3317240" y="2009648"/>
                    <a:pt x="3228848" y="2098040"/>
                    <a:pt x="3119755" y="2098040"/>
                  </a:cubicBezTo>
                  <a:lnTo>
                    <a:pt x="197485" y="2098040"/>
                  </a:lnTo>
                  <a:cubicBezTo>
                    <a:pt x="88392" y="2098040"/>
                    <a:pt x="0" y="2009648"/>
                    <a:pt x="0" y="1900555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803904" y="2194560"/>
            <a:ext cx="2286000" cy="1554480"/>
            <a:chOff x="0" y="0"/>
            <a:chExt cx="3048000" cy="2072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48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246" t="0" r="-3724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04800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dashboard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181344" y="2493645"/>
            <a:ext cx="329184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34D3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01003" y="2185035"/>
            <a:ext cx="2487930" cy="1573530"/>
            <a:chOff x="0" y="0"/>
            <a:chExt cx="3317240" cy="2098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17240" cy="2098040"/>
            </a:xfrm>
            <a:custGeom>
              <a:avLst/>
              <a:gdLst/>
              <a:ahLst/>
              <a:cxnLst/>
              <a:rect r="r" b="b" t="t" l="l"/>
              <a:pathLst>
                <a:path h="2098040" w="331724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119755" y="0"/>
                  </a:lnTo>
                  <a:cubicBezTo>
                    <a:pt x="3228848" y="0"/>
                    <a:pt x="3317240" y="88392"/>
                    <a:pt x="3317240" y="197485"/>
                  </a:cubicBezTo>
                  <a:lnTo>
                    <a:pt x="3317240" y="1900555"/>
                  </a:lnTo>
                  <a:cubicBezTo>
                    <a:pt x="3317240" y="2009648"/>
                    <a:pt x="3228848" y="2098040"/>
                    <a:pt x="3119755" y="2098040"/>
                  </a:cubicBezTo>
                  <a:lnTo>
                    <a:pt x="197485" y="2098040"/>
                  </a:lnTo>
                  <a:cubicBezTo>
                    <a:pt x="88392" y="2098040"/>
                    <a:pt x="0" y="2009648"/>
                    <a:pt x="0" y="1900555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601968" y="2194560"/>
            <a:ext cx="2286000" cy="1554480"/>
            <a:chOff x="0" y="0"/>
            <a:chExt cx="3048000" cy="2072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48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246" t="0" r="-3724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04800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Flask backend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979408" y="2493645"/>
            <a:ext cx="329184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34D3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99067" y="2185035"/>
            <a:ext cx="2487930" cy="1573530"/>
            <a:chOff x="0" y="0"/>
            <a:chExt cx="3317240" cy="2098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17240" cy="2098040"/>
            </a:xfrm>
            <a:custGeom>
              <a:avLst/>
              <a:gdLst/>
              <a:ahLst/>
              <a:cxnLst/>
              <a:rect r="r" b="b" t="t" l="l"/>
              <a:pathLst>
                <a:path h="2098040" w="331724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119755" y="0"/>
                  </a:lnTo>
                  <a:cubicBezTo>
                    <a:pt x="3228848" y="0"/>
                    <a:pt x="3317240" y="88392"/>
                    <a:pt x="3317240" y="197485"/>
                  </a:cubicBezTo>
                  <a:lnTo>
                    <a:pt x="3317240" y="1900555"/>
                  </a:lnTo>
                  <a:cubicBezTo>
                    <a:pt x="3317240" y="2009648"/>
                    <a:pt x="3228848" y="2098040"/>
                    <a:pt x="3119755" y="2098040"/>
                  </a:cubicBezTo>
                  <a:lnTo>
                    <a:pt x="197485" y="2098040"/>
                  </a:lnTo>
                  <a:cubicBezTo>
                    <a:pt x="88392" y="2098040"/>
                    <a:pt x="0" y="2009648"/>
                    <a:pt x="0" y="1900555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400032" y="2194560"/>
            <a:ext cx="2286000" cy="1554480"/>
            <a:chOff x="0" y="0"/>
            <a:chExt cx="3048000" cy="2072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48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246" t="0" r="-3724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304800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Forecasting engine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777472" y="2493645"/>
            <a:ext cx="329184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34D3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097131" y="2185035"/>
            <a:ext cx="2487930" cy="1573530"/>
            <a:chOff x="0" y="0"/>
            <a:chExt cx="3317240" cy="2098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17240" cy="2098040"/>
            </a:xfrm>
            <a:custGeom>
              <a:avLst/>
              <a:gdLst/>
              <a:ahLst/>
              <a:cxnLst/>
              <a:rect r="r" b="b" t="t" l="l"/>
              <a:pathLst>
                <a:path h="2098040" w="331724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119755" y="0"/>
                  </a:lnTo>
                  <a:cubicBezTo>
                    <a:pt x="3228848" y="0"/>
                    <a:pt x="3317240" y="88392"/>
                    <a:pt x="3317240" y="197485"/>
                  </a:cubicBezTo>
                  <a:lnTo>
                    <a:pt x="3317240" y="1900555"/>
                  </a:lnTo>
                  <a:cubicBezTo>
                    <a:pt x="3317240" y="2009648"/>
                    <a:pt x="3228848" y="2098040"/>
                    <a:pt x="3119755" y="2098040"/>
                  </a:cubicBezTo>
                  <a:lnTo>
                    <a:pt x="197485" y="2098040"/>
                  </a:lnTo>
                  <a:cubicBezTo>
                    <a:pt x="88392" y="2098040"/>
                    <a:pt x="0" y="2009648"/>
                    <a:pt x="0" y="1900555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198096" y="2194560"/>
            <a:ext cx="2286000" cy="1554480"/>
            <a:chOff x="0" y="0"/>
            <a:chExt cx="3048000" cy="2072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48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246" t="0" r="-3724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304800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Optimization module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4575536" y="2493645"/>
            <a:ext cx="329184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34D3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895195" y="2185035"/>
            <a:ext cx="2487930" cy="1573530"/>
            <a:chOff x="0" y="0"/>
            <a:chExt cx="3317240" cy="2098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317240" cy="2098040"/>
            </a:xfrm>
            <a:custGeom>
              <a:avLst/>
              <a:gdLst/>
              <a:ahLst/>
              <a:cxnLst/>
              <a:rect r="r" b="b" t="t" l="l"/>
              <a:pathLst>
                <a:path h="2098040" w="331724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119755" y="0"/>
                  </a:lnTo>
                  <a:cubicBezTo>
                    <a:pt x="3228848" y="0"/>
                    <a:pt x="3317240" y="88392"/>
                    <a:pt x="3317240" y="197485"/>
                  </a:cubicBezTo>
                  <a:lnTo>
                    <a:pt x="3317240" y="1900555"/>
                  </a:lnTo>
                  <a:cubicBezTo>
                    <a:pt x="3317240" y="2009648"/>
                    <a:pt x="3228848" y="2098040"/>
                    <a:pt x="3119755" y="2098040"/>
                  </a:cubicBezTo>
                  <a:lnTo>
                    <a:pt x="197485" y="2098040"/>
                  </a:lnTo>
                  <a:cubicBezTo>
                    <a:pt x="88392" y="2098040"/>
                    <a:pt x="0" y="2009648"/>
                    <a:pt x="0" y="1900555"/>
                  </a:cubicBezTo>
                  <a:close/>
                </a:path>
              </a:pathLst>
            </a:custGeom>
            <a:solidFill>
              <a:srgbClr val="0F3D5E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996160" y="2194560"/>
            <a:ext cx="2286000" cy="1554480"/>
            <a:chOff x="0" y="0"/>
            <a:chExt cx="3048000" cy="2072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48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246" t="0" r="-37246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304800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Ranked results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04875" y="4196715"/>
            <a:ext cx="8065770" cy="3859530"/>
            <a:chOff x="0" y="0"/>
            <a:chExt cx="10754360" cy="5146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54360" cy="5146040"/>
            </a:xfrm>
            <a:custGeom>
              <a:avLst/>
              <a:gdLst/>
              <a:ahLst/>
              <a:cxnLst/>
              <a:rect r="r" b="b" t="t" l="l"/>
              <a:pathLst>
                <a:path h="5146040" w="10754360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558272" y="0"/>
                  </a:lnTo>
                  <a:cubicBezTo>
                    <a:pt x="10666603" y="0"/>
                    <a:pt x="10754360" y="87757"/>
                    <a:pt x="10754360" y="196088"/>
                  </a:cubicBezTo>
                  <a:lnTo>
                    <a:pt x="10754360" y="4949952"/>
                  </a:lnTo>
                  <a:cubicBezTo>
                    <a:pt x="10754360" y="5058283"/>
                    <a:pt x="10666603" y="5146040"/>
                    <a:pt x="10558272" y="5146040"/>
                  </a:cubicBezTo>
                  <a:lnTo>
                    <a:pt x="196088" y="5146040"/>
                  </a:lnTo>
                  <a:cubicBezTo>
                    <a:pt x="87757" y="5146040"/>
                    <a:pt x="0" y="5058283"/>
                    <a:pt x="0" y="4949952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280160" y="4322445"/>
            <a:ext cx="7315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34D39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Prototype scope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80160" y="5063490"/>
            <a:ext cx="7315200" cy="289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CSV upload and validation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Configurable stock, lead time, shelf life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Forecast generation (Pandas, NumPy baselines)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Ranked reorder table with CSV download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SQLite local storage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317355" y="4196715"/>
            <a:ext cx="8065770" cy="3859530"/>
            <a:chOff x="0" y="0"/>
            <a:chExt cx="10754360" cy="5146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54360" cy="5146040"/>
            </a:xfrm>
            <a:custGeom>
              <a:avLst/>
              <a:gdLst/>
              <a:ahLst/>
              <a:cxnLst/>
              <a:rect r="r" b="b" t="t" l="l"/>
              <a:pathLst>
                <a:path h="5146040" w="10754360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558272" y="0"/>
                  </a:lnTo>
                  <a:cubicBezTo>
                    <a:pt x="10666603" y="0"/>
                    <a:pt x="10754360" y="87757"/>
                    <a:pt x="10754360" y="196088"/>
                  </a:cubicBezTo>
                  <a:lnTo>
                    <a:pt x="10754360" y="4949952"/>
                  </a:lnTo>
                  <a:cubicBezTo>
                    <a:pt x="10754360" y="5058283"/>
                    <a:pt x="10666603" y="5146040"/>
                    <a:pt x="10558272" y="5146040"/>
                  </a:cubicBezTo>
                  <a:lnTo>
                    <a:pt x="196088" y="5146040"/>
                  </a:lnTo>
                  <a:cubicBezTo>
                    <a:pt x="87757" y="5146040"/>
                    <a:pt x="0" y="5058283"/>
                    <a:pt x="0" y="4949952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9692640" y="4322445"/>
            <a:ext cx="7315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future integrations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92640" y="5063490"/>
            <a:ext cx="7315200" cy="289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POS and billing data sync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Supplier ordering portals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Cloud database, multi-user access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Advanced time-series models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14400" y="8449056"/>
            <a:ext cx="2194560" cy="731520"/>
            <a:chOff x="0" y="0"/>
            <a:chExt cx="2926080" cy="975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lnTo>
                    <a:pt x="2438400" y="0"/>
                  </a:lnTo>
                  <a:cubicBezTo>
                    <a:pt x="2707767" y="0"/>
                    <a:pt x="2926080" y="218313"/>
                    <a:pt x="2926080" y="487680"/>
                  </a:cubicBezTo>
                  <a:cubicBezTo>
                    <a:pt x="2926080" y="757047"/>
                    <a:pt x="2707767" y="975360"/>
                    <a:pt x="2438400" y="975360"/>
                  </a:cubicBezTo>
                  <a:lnTo>
                    <a:pt x="487680" y="975360"/>
                  </a:ln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4366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14400" y="8449056"/>
            <a:ext cx="2194560" cy="731520"/>
            <a:chOff x="0" y="0"/>
            <a:chExt cx="2926080" cy="97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926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291840" y="8449056"/>
            <a:ext cx="2194560" cy="731520"/>
            <a:chOff x="0" y="0"/>
            <a:chExt cx="292608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lnTo>
                    <a:pt x="2438400" y="0"/>
                  </a:lnTo>
                  <a:cubicBezTo>
                    <a:pt x="2707767" y="0"/>
                    <a:pt x="2926080" y="218313"/>
                    <a:pt x="2926080" y="487680"/>
                  </a:cubicBezTo>
                  <a:cubicBezTo>
                    <a:pt x="2926080" y="757047"/>
                    <a:pt x="2707767" y="975360"/>
                    <a:pt x="2438400" y="975360"/>
                  </a:cubicBezTo>
                  <a:lnTo>
                    <a:pt x="487680" y="975360"/>
                  </a:ln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4366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3291840" y="8449056"/>
            <a:ext cx="2194560" cy="731520"/>
            <a:chOff x="0" y="0"/>
            <a:chExt cx="292608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2926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Pandas / NumPy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669280" y="8449056"/>
            <a:ext cx="2194560" cy="731520"/>
            <a:chOff x="0" y="0"/>
            <a:chExt cx="292608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lnTo>
                    <a:pt x="2438400" y="0"/>
                  </a:lnTo>
                  <a:cubicBezTo>
                    <a:pt x="2707767" y="0"/>
                    <a:pt x="2926080" y="218313"/>
                    <a:pt x="2926080" y="487680"/>
                  </a:cubicBezTo>
                  <a:cubicBezTo>
                    <a:pt x="2926080" y="757047"/>
                    <a:pt x="2707767" y="975360"/>
                    <a:pt x="2438400" y="975360"/>
                  </a:cubicBezTo>
                  <a:lnTo>
                    <a:pt x="487680" y="975360"/>
                  </a:ln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4366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669280" y="8449056"/>
            <a:ext cx="2194560" cy="731520"/>
            <a:chOff x="0" y="0"/>
            <a:chExt cx="2926080" cy="9753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2926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Scikit-learn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046720" y="8449056"/>
            <a:ext cx="2194560" cy="731520"/>
            <a:chOff x="0" y="0"/>
            <a:chExt cx="2926080" cy="9753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lnTo>
                    <a:pt x="2438400" y="0"/>
                  </a:lnTo>
                  <a:cubicBezTo>
                    <a:pt x="2707767" y="0"/>
                    <a:pt x="2926080" y="218313"/>
                    <a:pt x="2926080" y="487680"/>
                  </a:cubicBezTo>
                  <a:cubicBezTo>
                    <a:pt x="2926080" y="757047"/>
                    <a:pt x="2707767" y="975360"/>
                    <a:pt x="2438400" y="975360"/>
                  </a:cubicBezTo>
                  <a:lnTo>
                    <a:pt x="487680" y="975360"/>
                  </a:ln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4366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046720" y="8449056"/>
            <a:ext cx="2194560" cy="731520"/>
            <a:chOff x="0" y="0"/>
            <a:chExt cx="2926080" cy="975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2926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Flask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424160" y="8449056"/>
            <a:ext cx="2194560" cy="731520"/>
            <a:chOff x="0" y="0"/>
            <a:chExt cx="2926080" cy="9753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lnTo>
                    <a:pt x="2438400" y="0"/>
                  </a:lnTo>
                  <a:cubicBezTo>
                    <a:pt x="2707767" y="0"/>
                    <a:pt x="2926080" y="218313"/>
                    <a:pt x="2926080" y="487680"/>
                  </a:cubicBezTo>
                  <a:cubicBezTo>
                    <a:pt x="2926080" y="757047"/>
                    <a:pt x="2707767" y="975360"/>
                    <a:pt x="2438400" y="975360"/>
                  </a:cubicBezTo>
                  <a:lnTo>
                    <a:pt x="487680" y="975360"/>
                  </a:ln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4366B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424160" y="8449056"/>
            <a:ext cx="2194560" cy="731520"/>
            <a:chOff x="0" y="0"/>
            <a:chExt cx="2926080" cy="9753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2926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801600" y="8449056"/>
            <a:ext cx="2194560" cy="731520"/>
            <a:chOff x="0" y="0"/>
            <a:chExt cx="2926080" cy="9753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lnTo>
                    <a:pt x="2438400" y="0"/>
                  </a:lnTo>
                  <a:cubicBezTo>
                    <a:pt x="2707767" y="0"/>
                    <a:pt x="2926080" y="218313"/>
                    <a:pt x="2926080" y="487680"/>
                  </a:cubicBezTo>
                  <a:cubicBezTo>
                    <a:pt x="2926080" y="757047"/>
                    <a:pt x="2707767" y="975360"/>
                    <a:pt x="2438400" y="975360"/>
                  </a:cubicBezTo>
                  <a:lnTo>
                    <a:pt x="487680" y="975360"/>
                  </a:ln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4366B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801600" y="8449056"/>
            <a:ext cx="2194560" cy="731520"/>
            <a:chOff x="0" y="0"/>
            <a:chExt cx="2926080" cy="9753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2926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HTML / CSS / JS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5179040" y="8449056"/>
            <a:ext cx="2194560" cy="731520"/>
            <a:chOff x="0" y="0"/>
            <a:chExt cx="2926080" cy="9753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lnTo>
                    <a:pt x="2438400" y="0"/>
                  </a:lnTo>
                  <a:cubicBezTo>
                    <a:pt x="2707767" y="0"/>
                    <a:pt x="2926080" y="218313"/>
                    <a:pt x="2926080" y="487680"/>
                  </a:cubicBezTo>
                  <a:cubicBezTo>
                    <a:pt x="2926080" y="757047"/>
                    <a:pt x="2707767" y="975360"/>
                    <a:pt x="2438400" y="975360"/>
                  </a:cubicBezTo>
                  <a:lnTo>
                    <a:pt x="487680" y="975360"/>
                  </a:ln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4366B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5179040" y="8449056"/>
            <a:ext cx="2194560" cy="731520"/>
            <a:chOff x="0" y="0"/>
            <a:chExt cx="2926080" cy="9753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2926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Plotly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6733520" y="9608820"/>
            <a:ext cx="5486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Turning Better Predictions into Better Decisions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2185035"/>
            <a:ext cx="8248650" cy="6145530"/>
            <a:chOff x="0" y="0"/>
            <a:chExt cx="10998200" cy="8194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98200" cy="8194039"/>
            </a:xfrm>
            <a:custGeom>
              <a:avLst/>
              <a:gdLst/>
              <a:ahLst/>
              <a:cxnLst/>
              <a:rect r="r" b="b" t="t" l="l"/>
              <a:pathLst>
                <a:path h="8194039" w="10998200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10802493" y="0"/>
                  </a:lnTo>
                  <a:cubicBezTo>
                    <a:pt x="10910570" y="0"/>
                    <a:pt x="10998200" y="87630"/>
                    <a:pt x="10998200" y="195707"/>
                  </a:cubicBezTo>
                  <a:lnTo>
                    <a:pt x="10998200" y="7998333"/>
                  </a:lnTo>
                  <a:cubicBezTo>
                    <a:pt x="10998200" y="8106410"/>
                    <a:pt x="10910570" y="8194039"/>
                    <a:pt x="10802493" y="8194039"/>
                  </a:cubicBezTo>
                  <a:lnTo>
                    <a:pt x="195707" y="8194039"/>
                  </a:lnTo>
                  <a:cubicBezTo>
                    <a:pt x="87630" y="8194040"/>
                    <a:pt x="0" y="8106410"/>
                    <a:pt x="0" y="7998333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0160" y="2310765"/>
            <a:ext cx="7315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Validation plan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160" y="3051810"/>
            <a:ext cx="7498080" cy="517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AutoNum type="arabicPeriod" startAt="1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 held-out historical sales</a:t>
            </a:r>
          </a:p>
          <a:p>
            <a:pPr algn="l" marL="627381" indent="-313690" lvl="1">
              <a:lnSpc>
                <a:spcPts val="3120"/>
              </a:lnSpc>
              <a:buAutoNum type="arabicPeriod" startAt="1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Measure forecast error (MAE / WAPE)</a:t>
            </a:r>
          </a:p>
          <a:p>
            <a:pPr algn="l" marL="627381" indent="-313690" lvl="1">
              <a:lnSpc>
                <a:spcPts val="3120"/>
              </a:lnSpc>
              <a:buAutoNum type="arabicPeriod" startAt="1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 recommended orders with historical stock outcomes</a:t>
            </a:r>
          </a:p>
          <a:p>
            <a:pPr algn="l" marL="627381" indent="-313690" lvl="1">
              <a:lnSpc>
                <a:spcPts val="3120"/>
              </a:lnSpc>
              <a:buAutoNum type="arabicPeriod" startAt="1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Track stockouts, excess stock, expiry waste, cost</a:t>
            </a:r>
          </a:p>
          <a:p>
            <a:pPr algn="l" marL="627381" indent="-313690" lvl="1">
              <a:lnSpc>
                <a:spcPts val="3120"/>
              </a:lnSpc>
              <a:buAutoNum type="arabicPeriod" startAt="1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Test across product categories and demand patterns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00235" y="2185035"/>
            <a:ext cx="3768090" cy="2945130"/>
            <a:chOff x="0" y="0"/>
            <a:chExt cx="5024120" cy="3926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24120" cy="3926840"/>
            </a:xfrm>
            <a:custGeom>
              <a:avLst/>
              <a:gdLst/>
              <a:ahLst/>
              <a:cxnLst/>
              <a:rect r="r" b="b" t="t" l="l"/>
              <a:pathLst>
                <a:path h="3926840" w="502412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4827778" y="0"/>
                  </a:lnTo>
                  <a:cubicBezTo>
                    <a:pt x="4936236" y="0"/>
                    <a:pt x="5024120" y="87884"/>
                    <a:pt x="5024120" y="196342"/>
                  </a:cubicBezTo>
                  <a:lnTo>
                    <a:pt x="5024120" y="3730498"/>
                  </a:lnTo>
                  <a:cubicBezTo>
                    <a:pt x="5024120" y="3838956"/>
                    <a:pt x="4936236" y="3926840"/>
                    <a:pt x="482777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784080" y="2430780"/>
            <a:ext cx="32918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A5B4D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FORECAST ERROR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84080" y="3080385"/>
            <a:ext cx="3291840" cy="112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WAPE / MAE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84080" y="4442460"/>
            <a:ext cx="32918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59E0B"/>
                </a:solidFill>
                <a:latin typeface="Calibri (MS)"/>
                <a:ea typeface="Calibri (MS)"/>
                <a:cs typeface="Calibri (MS)"/>
                <a:sym typeface="Calibri (MS)"/>
              </a:rPr>
              <a:t>Planned evaluation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615035" y="2185035"/>
            <a:ext cx="3768090" cy="2945130"/>
            <a:chOff x="0" y="0"/>
            <a:chExt cx="5024120" cy="3926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24120" cy="3926840"/>
            </a:xfrm>
            <a:custGeom>
              <a:avLst/>
              <a:gdLst/>
              <a:ahLst/>
              <a:cxnLst/>
              <a:rect r="r" b="b" t="t" l="l"/>
              <a:pathLst>
                <a:path h="3926840" w="502412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4827778" y="0"/>
                  </a:lnTo>
                  <a:cubicBezTo>
                    <a:pt x="4936236" y="0"/>
                    <a:pt x="5024120" y="87884"/>
                    <a:pt x="5024120" y="196342"/>
                  </a:cubicBezTo>
                  <a:lnTo>
                    <a:pt x="5024120" y="3730498"/>
                  </a:lnTo>
                  <a:cubicBezTo>
                    <a:pt x="5024120" y="3838956"/>
                    <a:pt x="4936236" y="3926840"/>
                    <a:pt x="482777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3898880" y="2430780"/>
            <a:ext cx="32918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A5B4D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STOCKOUT RATE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98880" y="3080385"/>
            <a:ext cx="3291840" cy="112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Fewer stockouts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98880" y="4442460"/>
            <a:ext cx="32918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59E0B"/>
                </a:solidFill>
                <a:latin typeface="Calibri (MS)"/>
                <a:ea typeface="Calibri (MS)"/>
                <a:cs typeface="Calibri (MS)"/>
                <a:sym typeface="Calibri (MS)"/>
              </a:rPr>
              <a:t>Planned evaluation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00235" y="5476875"/>
            <a:ext cx="3768090" cy="2945130"/>
            <a:chOff x="0" y="0"/>
            <a:chExt cx="5024120" cy="3926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24120" cy="3926840"/>
            </a:xfrm>
            <a:custGeom>
              <a:avLst/>
              <a:gdLst/>
              <a:ahLst/>
              <a:cxnLst/>
              <a:rect r="r" b="b" t="t" l="l"/>
              <a:pathLst>
                <a:path h="3926840" w="502412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4827778" y="0"/>
                  </a:lnTo>
                  <a:cubicBezTo>
                    <a:pt x="4936236" y="0"/>
                    <a:pt x="5024120" y="87884"/>
                    <a:pt x="5024120" y="196342"/>
                  </a:cubicBezTo>
                  <a:lnTo>
                    <a:pt x="5024120" y="3730498"/>
                  </a:lnTo>
                  <a:cubicBezTo>
                    <a:pt x="5024120" y="3838956"/>
                    <a:pt x="4936236" y="3926840"/>
                    <a:pt x="482777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784080" y="5722620"/>
            <a:ext cx="32918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A5B4D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EXPIRY WASTE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84080" y="6372225"/>
            <a:ext cx="3291840" cy="112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Less waste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84080" y="7734300"/>
            <a:ext cx="32918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59E0B"/>
                </a:solidFill>
                <a:latin typeface="Calibri (MS)"/>
                <a:ea typeface="Calibri (MS)"/>
                <a:cs typeface="Calibri (MS)"/>
                <a:sym typeface="Calibri (MS)"/>
              </a:rPr>
              <a:t>Planned evaluation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615035" y="5476875"/>
            <a:ext cx="3768090" cy="2945130"/>
            <a:chOff x="0" y="0"/>
            <a:chExt cx="5024120" cy="3926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24120" cy="3926840"/>
            </a:xfrm>
            <a:custGeom>
              <a:avLst/>
              <a:gdLst/>
              <a:ahLst/>
              <a:cxnLst/>
              <a:rect r="r" b="b" t="t" l="l"/>
              <a:pathLst>
                <a:path h="3926840" w="502412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4827778" y="0"/>
                  </a:lnTo>
                  <a:cubicBezTo>
                    <a:pt x="4936236" y="0"/>
                    <a:pt x="5024120" y="87884"/>
                    <a:pt x="5024120" y="196342"/>
                  </a:cubicBezTo>
                  <a:lnTo>
                    <a:pt x="5024120" y="3730498"/>
                  </a:lnTo>
                  <a:cubicBezTo>
                    <a:pt x="5024120" y="3838956"/>
                    <a:pt x="4936236" y="3926840"/>
                    <a:pt x="482777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3898880" y="5722620"/>
            <a:ext cx="32918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A5B4D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INVENTORY TURNOVER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98880" y="6372225"/>
            <a:ext cx="3291840" cy="112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2D3EE"/>
                </a:solidFill>
                <a:latin typeface="Arial Bold"/>
                <a:ea typeface="Arial Bold"/>
                <a:cs typeface="Arial Bold"/>
                <a:sym typeface="Arial Bold"/>
              </a:rPr>
              <a:t>Faster turns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98880" y="7734300"/>
            <a:ext cx="32918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59E0B"/>
                </a:solidFill>
                <a:latin typeface="Calibri (MS)"/>
                <a:ea typeface="Calibri (MS)"/>
                <a:cs typeface="Calibri (MS)"/>
                <a:sym typeface="Calibri (MS)"/>
              </a:rPr>
              <a:t>Planned evaluation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33520" y="9608820"/>
            <a:ext cx="5486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Make Every Reorder Count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2185035"/>
            <a:ext cx="8065770" cy="3676650"/>
            <a:chOff x="0" y="0"/>
            <a:chExt cx="10754360" cy="4902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54360" cy="4902200"/>
            </a:xfrm>
            <a:custGeom>
              <a:avLst/>
              <a:gdLst/>
              <a:ahLst/>
              <a:cxnLst/>
              <a:rect r="r" b="b" t="t" l="l"/>
              <a:pathLst>
                <a:path h="4902200" w="10754360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558272" y="0"/>
                  </a:lnTo>
                  <a:cubicBezTo>
                    <a:pt x="10666603" y="0"/>
                    <a:pt x="10754360" y="87757"/>
                    <a:pt x="10754360" y="196088"/>
                  </a:cubicBezTo>
                  <a:lnTo>
                    <a:pt x="10754360" y="4706112"/>
                  </a:lnTo>
                  <a:cubicBezTo>
                    <a:pt x="10754360" y="4814443"/>
                    <a:pt x="10666603" y="4902200"/>
                    <a:pt x="10558272" y="4902200"/>
                  </a:cubicBezTo>
                  <a:lnTo>
                    <a:pt x="196088" y="4902200"/>
                  </a:lnTo>
                  <a:cubicBezTo>
                    <a:pt x="87757" y="4902200"/>
                    <a:pt x="0" y="4814443"/>
                    <a:pt x="0" y="4706112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0160" y="2402205"/>
            <a:ext cx="7315200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 product demand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Calculate practical reorder quantities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Respect delivery times and shelf life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Prioritise with transparent risk signals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17355" y="2185035"/>
            <a:ext cx="8065770" cy="3475482"/>
            <a:chOff x="0" y="0"/>
            <a:chExt cx="10754360" cy="46339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54360" cy="4633976"/>
            </a:xfrm>
            <a:custGeom>
              <a:avLst/>
              <a:gdLst/>
              <a:ahLst/>
              <a:cxnLst/>
              <a:rect r="r" b="b" t="t" l="l"/>
              <a:pathLst>
                <a:path h="4633976" w="10754360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10558145" y="0"/>
                  </a:lnTo>
                  <a:cubicBezTo>
                    <a:pt x="10666476" y="0"/>
                    <a:pt x="10754360" y="87884"/>
                    <a:pt x="10754360" y="196215"/>
                  </a:cubicBezTo>
                  <a:lnTo>
                    <a:pt x="10754360" y="4437761"/>
                  </a:lnTo>
                  <a:cubicBezTo>
                    <a:pt x="10754360" y="4546092"/>
                    <a:pt x="10666476" y="4633976"/>
                    <a:pt x="10558145" y="4633976"/>
                  </a:cubicBezTo>
                  <a:lnTo>
                    <a:pt x="196215" y="4633976"/>
                  </a:lnTo>
                  <a:cubicBezTo>
                    <a:pt x="87884" y="4633976"/>
                    <a:pt x="0" y="4546092"/>
                    <a:pt x="0" y="4437761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692640" y="2411730"/>
            <a:ext cx="7315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Reorder list  |  illustrative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692640" y="3291840"/>
            <a:ext cx="2194560" cy="548640"/>
            <a:chOff x="0" y="0"/>
            <a:chExt cx="29260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92608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Milk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87200" y="3291840"/>
            <a:ext cx="2194560" cy="548640"/>
            <a:chOff x="0" y="0"/>
            <a:chExt cx="29260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9260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5B4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 38 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904720" y="3310128"/>
            <a:ext cx="2103120" cy="512064"/>
            <a:chOff x="0" y="0"/>
            <a:chExt cx="280416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462784" y="0"/>
                  </a:lnTo>
                  <a:cubicBezTo>
                    <a:pt x="2651379" y="0"/>
                    <a:pt x="2804160" y="152781"/>
                    <a:pt x="2804160" y="341376"/>
                  </a:cubicBezTo>
                  <a:cubicBezTo>
                    <a:pt x="2804160" y="529971"/>
                    <a:pt x="2651379" y="682752"/>
                    <a:pt x="246278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904720" y="3310128"/>
            <a:ext cx="2103120" cy="512064"/>
            <a:chOff x="0" y="0"/>
            <a:chExt cx="280416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804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CRITICAL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92640" y="4425696"/>
            <a:ext cx="2194560" cy="548640"/>
            <a:chOff x="0" y="0"/>
            <a:chExt cx="292608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292608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Bread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7200" y="4425696"/>
            <a:ext cx="2194560" cy="548640"/>
            <a:chOff x="0" y="0"/>
            <a:chExt cx="292608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29260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5B4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 30 pcs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904720" y="4443984"/>
            <a:ext cx="2103120" cy="512064"/>
            <a:chOff x="0" y="0"/>
            <a:chExt cx="280416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462784" y="0"/>
                  </a:lnTo>
                  <a:cubicBezTo>
                    <a:pt x="2651379" y="0"/>
                    <a:pt x="2804160" y="152781"/>
                    <a:pt x="2804160" y="341376"/>
                  </a:cubicBezTo>
                  <a:cubicBezTo>
                    <a:pt x="2804160" y="529971"/>
                    <a:pt x="2651379" y="682752"/>
                    <a:pt x="246278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904720" y="4443984"/>
            <a:ext cx="2103120" cy="512064"/>
            <a:chOff x="0" y="0"/>
            <a:chExt cx="280416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04160" cy="682752"/>
            </a:xfrm>
            <a:custGeom>
              <a:avLst/>
              <a:gdLst/>
              <a:ahLst/>
              <a:cxnLst/>
              <a:rect r="r" b="b" t="t" l="l"/>
              <a:pathLst>
                <a:path h="682752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804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B1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04875" y="6848475"/>
            <a:ext cx="3859530" cy="1482090"/>
            <a:chOff x="0" y="0"/>
            <a:chExt cx="5146040" cy="1976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46040" cy="1976120"/>
            </a:xfrm>
            <a:custGeom>
              <a:avLst/>
              <a:gdLst/>
              <a:ahLst/>
              <a:cxnLst/>
              <a:rect r="r" b="b" t="t" l="l"/>
              <a:pathLst>
                <a:path h="1976120" w="514604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4948428" y="0"/>
                  </a:lnTo>
                  <a:cubicBezTo>
                    <a:pt x="5057521" y="0"/>
                    <a:pt x="5146040" y="88519"/>
                    <a:pt x="5146040" y="197612"/>
                  </a:cubicBezTo>
                  <a:lnTo>
                    <a:pt x="5146040" y="1778508"/>
                  </a:lnTo>
                  <a:cubicBezTo>
                    <a:pt x="5146040" y="1887601"/>
                    <a:pt x="5057521" y="1976120"/>
                    <a:pt x="4948428" y="1976120"/>
                  </a:cubicBezTo>
                  <a:lnTo>
                    <a:pt x="197612" y="1976120"/>
                  </a:lnTo>
                  <a:cubicBezTo>
                    <a:pt x="88519" y="1976120"/>
                    <a:pt x="0" y="1887601"/>
                    <a:pt x="0" y="1778508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133856" y="6901815"/>
            <a:ext cx="34747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33856" y="7331964"/>
            <a:ext cx="3474720" cy="91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CSV forecasting and reorder list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111115" y="6848475"/>
            <a:ext cx="3859530" cy="1482090"/>
            <a:chOff x="0" y="0"/>
            <a:chExt cx="5146040" cy="1976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46040" cy="1976120"/>
            </a:xfrm>
            <a:custGeom>
              <a:avLst/>
              <a:gdLst/>
              <a:ahLst/>
              <a:cxnLst/>
              <a:rect r="r" b="b" t="t" l="l"/>
              <a:pathLst>
                <a:path h="1976120" w="514604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4948428" y="0"/>
                  </a:lnTo>
                  <a:cubicBezTo>
                    <a:pt x="5057521" y="0"/>
                    <a:pt x="5146040" y="88519"/>
                    <a:pt x="5146040" y="197612"/>
                  </a:cubicBezTo>
                  <a:lnTo>
                    <a:pt x="5146040" y="1778508"/>
                  </a:lnTo>
                  <a:cubicBezTo>
                    <a:pt x="5146040" y="1887601"/>
                    <a:pt x="5057521" y="1976120"/>
                    <a:pt x="4948428" y="1976120"/>
                  </a:cubicBezTo>
                  <a:lnTo>
                    <a:pt x="197612" y="1976120"/>
                  </a:lnTo>
                  <a:cubicBezTo>
                    <a:pt x="88519" y="1976120"/>
                    <a:pt x="0" y="1887601"/>
                    <a:pt x="0" y="1778508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5340096" y="6901815"/>
            <a:ext cx="34747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40096" y="7331964"/>
            <a:ext cx="3474720" cy="91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Seasonality and supplier constraints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317355" y="6848475"/>
            <a:ext cx="3859530" cy="1482090"/>
            <a:chOff x="0" y="0"/>
            <a:chExt cx="5146040" cy="1976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46040" cy="1976120"/>
            </a:xfrm>
            <a:custGeom>
              <a:avLst/>
              <a:gdLst/>
              <a:ahLst/>
              <a:cxnLst/>
              <a:rect r="r" b="b" t="t" l="l"/>
              <a:pathLst>
                <a:path h="1976120" w="514604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4948428" y="0"/>
                  </a:lnTo>
                  <a:cubicBezTo>
                    <a:pt x="5057521" y="0"/>
                    <a:pt x="5146040" y="88519"/>
                    <a:pt x="5146040" y="197612"/>
                  </a:cubicBezTo>
                  <a:lnTo>
                    <a:pt x="5146040" y="1778508"/>
                  </a:lnTo>
                  <a:cubicBezTo>
                    <a:pt x="5146040" y="1887601"/>
                    <a:pt x="5057521" y="1976120"/>
                    <a:pt x="4948428" y="1976120"/>
                  </a:cubicBezTo>
                  <a:lnTo>
                    <a:pt x="197612" y="1976120"/>
                  </a:lnTo>
                  <a:cubicBezTo>
                    <a:pt x="88519" y="1976120"/>
                    <a:pt x="0" y="1887601"/>
                    <a:pt x="0" y="1778508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9546336" y="6901815"/>
            <a:ext cx="34747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46336" y="7331964"/>
            <a:ext cx="3474720" cy="91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POS integration, budget-aware ordering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3523595" y="6848475"/>
            <a:ext cx="3859530" cy="1482090"/>
            <a:chOff x="0" y="0"/>
            <a:chExt cx="5146040" cy="19761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46040" cy="1976120"/>
            </a:xfrm>
            <a:custGeom>
              <a:avLst/>
              <a:gdLst/>
              <a:ahLst/>
              <a:cxnLst/>
              <a:rect r="r" b="b" t="t" l="l"/>
              <a:pathLst>
                <a:path h="1976120" w="514604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4948428" y="0"/>
                  </a:lnTo>
                  <a:cubicBezTo>
                    <a:pt x="5057521" y="0"/>
                    <a:pt x="5146040" y="88519"/>
                    <a:pt x="5146040" y="197612"/>
                  </a:cubicBezTo>
                  <a:lnTo>
                    <a:pt x="5146040" y="1778508"/>
                  </a:lnTo>
                  <a:cubicBezTo>
                    <a:pt x="5146040" y="1887601"/>
                    <a:pt x="5057521" y="1976120"/>
                    <a:pt x="4948428" y="1976120"/>
                  </a:cubicBezTo>
                  <a:lnTo>
                    <a:pt x="197612" y="1976120"/>
                  </a:lnTo>
                  <a:cubicBezTo>
                    <a:pt x="88519" y="1976120"/>
                    <a:pt x="0" y="1887601"/>
                    <a:pt x="0" y="1778508"/>
                  </a:cubicBezTo>
                  <a:close/>
                </a:path>
              </a:pathLst>
            </a:custGeom>
            <a:solidFill>
              <a:srgbClr val="132247"/>
            </a:solidFill>
            <a:ln w="19050" cap="sq">
              <a:solidFill>
                <a:srgbClr val="24366B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13752576" y="6901815"/>
            <a:ext cx="34747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752576" y="7331964"/>
            <a:ext cx="3474720" cy="91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Multi-store analytics, advanced models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4400" y="8995410"/>
            <a:ext cx="164592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  |  Team Nexora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733520" y="9608820"/>
            <a:ext cx="5486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A5B4D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DAHYziVKbuY</dc:identifier>
  <dcterms:modified xsi:type="dcterms:W3CDTF">2011-08-01T06:04:30Z</dcterms:modified>
  <cp:revision>1</cp:revision>
  <dc:title>StockSense_Nexora_Pitch_Deck.pptx</dc:title>
</cp:coreProperties>
</file>